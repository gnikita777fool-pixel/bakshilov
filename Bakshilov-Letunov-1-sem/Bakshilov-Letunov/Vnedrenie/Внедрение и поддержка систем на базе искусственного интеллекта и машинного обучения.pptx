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CC297D-A5E9-4028-99D2-5E0FCFA77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DED5DBC-35C5-4130-90AB-31C721895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794968-209B-47F5-82D9-54237D6ED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883D-E807-44C7-8E8D-4CC7B166873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88D2F8-5C35-4B80-AFD1-3F510181E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748838-A17A-4AF6-AC7B-54F320FA9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BC2A-E269-41FE-83E9-6F06648389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076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158377-E9DF-4B51-A2F7-D3B23699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968E4C-1FFC-4021-B502-0FE6A7788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22DC9D-9120-4A63-BE72-2BD821098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883D-E807-44C7-8E8D-4CC7B166873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B08EAD-FE32-4B3B-B7FD-47B312914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EAA0BB-0653-4B97-A636-92F6AF2F9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BC2A-E269-41FE-83E9-6F06648389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4684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3A8C0-B78E-4AE8-8661-49C0CA05B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A1655B-CCE8-4D68-8BAE-8B2BB42B3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1599D8-C053-4C32-8097-3DA0D8DC6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883D-E807-44C7-8E8D-4CC7B166873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4481F1-530E-42D6-BDAA-9683AD9ED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7E17A0-A271-4CE9-AB97-0A700B456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BC2A-E269-41FE-83E9-6F06648389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064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E741AE-5FEA-4367-8EC0-58D425052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31E656-632A-46D5-A77C-E6AC293D0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DE9455-8517-4620-B1DB-0761A8303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B459FA-9A72-4484-A23B-F1E702C6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883D-E807-44C7-8E8D-4CC7B166873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6B8446-88A8-4ACD-ADFF-D13688823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831F89-453A-4136-A941-9E70EEDF5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BC2A-E269-41FE-83E9-6F06648389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601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A74FC-0714-4490-9BFA-B774BA195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E6A680-5E70-42F0-AD42-0559564C6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DD82D5-438A-4E8D-9BCB-CE66C7799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2214455-6B02-4B1E-B13A-50ED4D8C17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6CF3E21-2CE7-46B4-AADE-677E161BC3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2FF5EE-0125-4BA7-B356-586065833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883D-E807-44C7-8E8D-4CC7B166873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7B20EE3-0E65-4AA0-AD36-76551485A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9698A78-AD7D-4ABE-BEC8-4B27F90CF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BC2A-E269-41FE-83E9-6F06648389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1742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0240E6-51EE-445A-BA8E-62C7B6028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57E23D3-35C3-41B2-BC16-322DD6D4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883D-E807-44C7-8E8D-4CC7B166873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D1306D7-1D24-4675-AABD-643CDFD2D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583905-64E0-4097-8D27-E78C96572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BC2A-E269-41FE-83E9-6F06648389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050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30582B4-9A80-408B-9121-F74C68121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883D-E807-44C7-8E8D-4CC7B166873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69F88F2-1E0A-4E42-A54A-FAB225C3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02EB20-8BC5-44B7-8B72-8AD20CB2D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BC2A-E269-41FE-83E9-6F06648389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163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E2066F-348F-46BA-8E9A-9775202F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EB30B4-7DE8-4528-89B7-E486BCE52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1853C2-5E2A-46E7-91D1-B1CDCAB4F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5A086A-3971-4F38-A941-7D113CA0C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883D-E807-44C7-8E8D-4CC7B166873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E40826-2B64-422B-B385-1F6A64EE5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5BFF2E-4A46-47F4-8D65-8A984F535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BC2A-E269-41FE-83E9-6F06648389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140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BDBA30-8057-4D56-88A2-C1A138D5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3BC227F-6BCE-47B9-9669-897A8E904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6EBC90-8DF1-422B-8125-D80C8F4BD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0655D0-07AF-4833-AD64-84467BD2F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883D-E807-44C7-8E8D-4CC7B166873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FDA9AF-6313-44C1-8ABB-9432FC199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F876A-A7EF-4826-823A-2A7067857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BC2A-E269-41FE-83E9-6F06648389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76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06EC4-5A04-4D6A-8577-61F43C6FB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167D23-B93C-4979-BDFA-7FF0F802F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88985F-407C-40B3-BB8F-E4D55591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883D-E807-44C7-8E8D-4CC7B166873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46B9D5-2D54-4A68-A18B-6D8009F4E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DE8B48-E316-453E-B47C-F46310E5F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BC2A-E269-41FE-83E9-6F06648389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73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70D6EB3-A270-42CE-A567-E5456011C7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99EC48-8109-4164-917B-11FF0D902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F981B2-29A3-4A61-ADC1-158C388A5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2883D-E807-44C7-8E8D-4CC7B166873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099ED9-7CFF-43CA-8D56-82B981BA7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166AE2-F241-40B2-9AAD-577179E8B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ABC2A-E269-41FE-83E9-6F06648389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19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D9ECC-A2E6-49EA-BBC3-670DA0BB8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59B359-03F0-46FB-9B58-6182D1280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35C39A-E610-4FC9-B285-9E0DA7A89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2883D-E807-44C7-8E8D-4CC7B166873B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8B6622-A911-4D6D-8721-4414D0074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63D90C-A752-431D-AEA8-EADDBAAB9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ABC2A-E269-41FE-83E9-6F06648389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6257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D4264-398D-4EAF-AB6C-44A6FADD3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849" y="819808"/>
            <a:ext cx="8002937" cy="3268520"/>
          </a:xfrm>
        </p:spPr>
        <p:txBody>
          <a:bodyPr>
            <a:normAutofit fontScale="90000"/>
          </a:bodyPr>
          <a:lstStyle/>
          <a:p>
            <a:pPr algn="r"/>
            <a:r>
              <a:rPr lang="ru-RU" b="1" dirty="0">
                <a:solidFill>
                  <a:schemeClr val="bg1"/>
                </a:solidFill>
              </a:rPr>
              <a:t>Внедрение и поддержка систем на базе искусственного интеллекта и машинного обучения</a:t>
            </a:r>
            <a:endParaRPr lang="ru-RU" sz="48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06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220534A-4FA5-4885-9008-3F4438C80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3"/>
            <a:ext cx="12192000" cy="685391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4338C3-BCFC-4D83-A3B8-0AB9BFF21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Особенности ИИ/ML-систем как объекта внедрения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026" name="Picture 2" descr="Сколько продукции на работника за час. Динамика производительности труда в  российском АПК — Журнал «Агроинвестор» – Агроинвестор">
            <a:extLst>
              <a:ext uri="{FF2B5EF4-FFF2-40B4-BE49-F238E27FC236}">
                <a16:creationId xmlns:a16="http://schemas.microsoft.com/office/drawing/2014/main" id="{1D0EC4F2-E4FD-41E7-8001-180675462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452" y="2739796"/>
            <a:ext cx="2990850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108E09-EDA9-4F0C-BE36-1659D78401D9}"/>
              </a:ext>
            </a:extLst>
          </p:cNvPr>
          <p:cNvSpPr txBox="1"/>
          <p:nvPr/>
        </p:nvSpPr>
        <p:spPr>
          <a:xfrm>
            <a:off x="909452" y="2261589"/>
            <a:ext cx="3058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Динам. природа производит.</a:t>
            </a:r>
          </a:p>
        </p:txBody>
      </p:sp>
      <p:pic>
        <p:nvPicPr>
          <p:cNvPr id="1028" name="Picture 4" descr="Суперкомпьютерные вычисления - online presentation">
            <a:extLst>
              <a:ext uri="{FF2B5EF4-FFF2-40B4-BE49-F238E27FC236}">
                <a16:creationId xmlns:a16="http://schemas.microsoft.com/office/drawing/2014/main" id="{30DEBA39-4679-4CE8-9C2B-28532178C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995" y="4962463"/>
            <a:ext cx="2990850" cy="152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3C7127-B669-4041-ABB1-9F7DE806BC20}"/>
              </a:ext>
            </a:extLst>
          </p:cNvPr>
          <p:cNvSpPr txBox="1"/>
          <p:nvPr/>
        </p:nvSpPr>
        <p:spPr>
          <a:xfrm>
            <a:off x="4925458" y="4503262"/>
            <a:ext cx="2665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Недетерминированность</a:t>
            </a:r>
          </a:p>
        </p:txBody>
      </p:sp>
      <p:pic>
        <p:nvPicPr>
          <p:cNvPr id="1030" name="Picture 6" descr="Что такое верификация и чем она отличается от валидации. Примеры верификации  в реальной жизни">
            <a:extLst>
              <a:ext uri="{FF2B5EF4-FFF2-40B4-BE49-F238E27FC236}">
                <a16:creationId xmlns:a16="http://schemas.microsoft.com/office/drawing/2014/main" id="{AE07BA60-50FB-4910-B6DC-284BAE78D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4185" y="2706270"/>
            <a:ext cx="2943225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8C40BB-A776-4F05-8C5B-F0EF87DE7C99}"/>
              </a:ext>
            </a:extLst>
          </p:cNvPr>
          <p:cNvSpPr txBox="1"/>
          <p:nvPr/>
        </p:nvSpPr>
        <p:spPr>
          <a:xfrm>
            <a:off x="8800725" y="2261589"/>
            <a:ext cx="263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Сложность верификации</a:t>
            </a:r>
          </a:p>
        </p:txBody>
      </p:sp>
      <p:pic>
        <p:nvPicPr>
          <p:cNvPr id="1032" name="Picture 8" descr="Базы данных. Нормализация. Функциональные зависимости атрибутов. Примеры.  Построение схем функциональных зависимостей | BestProg">
            <a:extLst>
              <a:ext uri="{FF2B5EF4-FFF2-40B4-BE49-F238E27FC236}">
                <a16:creationId xmlns:a16="http://schemas.microsoft.com/office/drawing/2014/main" id="{0295461B-AF8D-4CD4-8BE0-E0F8C6A4E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557" y="2750939"/>
            <a:ext cx="3167372" cy="1507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DC93F4-5457-47BD-97F0-0F163271C20E}"/>
              </a:ext>
            </a:extLst>
          </p:cNvPr>
          <p:cNvSpPr txBox="1"/>
          <p:nvPr/>
        </p:nvSpPr>
        <p:spPr>
          <a:xfrm>
            <a:off x="5026581" y="2261589"/>
            <a:ext cx="2491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Зависимость от данных</a:t>
            </a:r>
          </a:p>
        </p:txBody>
      </p:sp>
    </p:spTree>
    <p:extLst>
      <p:ext uri="{BB962C8B-B14F-4D97-AF65-F5344CB8AC3E}">
        <p14:creationId xmlns:p14="http://schemas.microsoft.com/office/powerpoint/2010/main" val="4077044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AA76DD-4AEB-44EC-906E-A2B6DC710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9470"/>
            <a:ext cx="12192000" cy="685391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11116D-13DC-4536-87AB-530F47F68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557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Жизненный цикл внедрения ИИ-систем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720CAF-6033-4ECE-9EDC-B2C5B0E8E83D}"/>
              </a:ext>
            </a:extLst>
          </p:cNvPr>
          <p:cNvSpPr txBox="1"/>
          <p:nvPr/>
        </p:nvSpPr>
        <p:spPr>
          <a:xfrm>
            <a:off x="1092529" y="1876302"/>
            <a:ext cx="2753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Подготовительная фаза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4F43653-6125-49DD-801C-ED795973AA40}"/>
              </a:ext>
            </a:extLst>
          </p:cNvPr>
          <p:cNvSpPr/>
          <p:nvPr/>
        </p:nvSpPr>
        <p:spPr>
          <a:xfrm>
            <a:off x="4284090" y="1891691"/>
            <a:ext cx="3359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Прототипирование и валидация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081BEAF-1ED5-4E25-BC49-000D754F9C2F}"/>
              </a:ext>
            </a:extLst>
          </p:cNvPr>
          <p:cNvSpPr/>
          <p:nvPr/>
        </p:nvSpPr>
        <p:spPr>
          <a:xfrm>
            <a:off x="8142303" y="1891691"/>
            <a:ext cx="3078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Постепенное развёртывание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050" name="Picture 2" descr="Подготовительный период строительства - организация и состав работ">
            <a:extLst>
              <a:ext uri="{FF2B5EF4-FFF2-40B4-BE49-F238E27FC236}">
                <a16:creationId xmlns:a16="http://schemas.microsoft.com/office/drawing/2014/main" id="{4DB66DAF-3F18-4CEE-959C-B20A50531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176" y="2519362"/>
            <a:ext cx="25146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Прототипирование – понятие, применениеПрототипирование – понятие,  применение - Блог CODDY в Москве">
            <a:extLst>
              <a:ext uri="{FF2B5EF4-FFF2-40B4-BE49-F238E27FC236}">
                <a16:creationId xmlns:a16="http://schemas.microsoft.com/office/drawing/2014/main" id="{003BBAFA-7D19-446C-9B94-68D8C6791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558" y="2519361"/>
            <a:ext cx="3068052" cy="178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Валидации — Остальные — Принципы — Контур.Гайды">
            <a:extLst>
              <a:ext uri="{FF2B5EF4-FFF2-40B4-BE49-F238E27FC236}">
                <a16:creationId xmlns:a16="http://schemas.microsoft.com/office/drawing/2014/main" id="{D1DB089F-20F4-4D8E-8C47-2C2AB615C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558" y="4751877"/>
            <a:ext cx="3068052" cy="178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Постепенный выпуск - Windows drivers | Microsoft Learn">
            <a:extLst>
              <a:ext uri="{FF2B5EF4-FFF2-40B4-BE49-F238E27FC236}">
                <a16:creationId xmlns:a16="http://schemas.microsoft.com/office/drawing/2014/main" id="{2D980B96-5507-4C05-84F9-02F8B632F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710" y="2519361"/>
            <a:ext cx="2967400" cy="178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DF08F3CB-BACE-493A-BA4A-0162753DCFF3}"/>
              </a:ext>
            </a:extLst>
          </p:cNvPr>
          <p:cNvCxnSpPr>
            <a:cxnSpLocks/>
          </p:cNvCxnSpPr>
          <p:nvPr/>
        </p:nvCxnSpPr>
        <p:spPr>
          <a:xfrm>
            <a:off x="5835316" y="4547937"/>
            <a:ext cx="26068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891C5BD-F996-4FF7-9845-77ABAB78E70E}"/>
              </a:ext>
            </a:extLst>
          </p:cNvPr>
          <p:cNvCxnSpPr/>
          <p:nvPr/>
        </p:nvCxnSpPr>
        <p:spPr>
          <a:xfrm>
            <a:off x="5967663" y="4421605"/>
            <a:ext cx="0" cy="25266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12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621DC8-D9A1-4B48-A72E-679BA240B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633"/>
            <a:ext cx="12192000" cy="685391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4BF0A3-930E-49E6-8F75-19B200C0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Специфика поддержки ИИ-систем в эксплуатации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4ADCB-5CD2-4E99-811B-1DEF3248C695}"/>
              </a:ext>
            </a:extLst>
          </p:cNvPr>
          <p:cNvSpPr txBox="1"/>
          <p:nvPr/>
        </p:nvSpPr>
        <p:spPr>
          <a:xfrm>
            <a:off x="3751169" y="1690688"/>
            <a:ext cx="4487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</a:rPr>
              <a:t>Мониторинг и обнаружение дрейфа</a:t>
            </a:r>
          </a:p>
        </p:txBody>
      </p:sp>
      <p:pic>
        <p:nvPicPr>
          <p:cNvPr id="3074" name="Picture 2" descr="Что такое дрифт ML-моделей и как его мониторить? / Хабр">
            <a:extLst>
              <a:ext uri="{FF2B5EF4-FFF2-40B4-BE49-F238E27FC236}">
                <a16:creationId xmlns:a16="http://schemas.microsoft.com/office/drawing/2014/main" id="{A494F7DE-29A1-4D50-A232-58E62737A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29" y="4036231"/>
            <a:ext cx="2452503" cy="1776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Что такое Model drift? - энциклопедия BigdataSchool">
            <a:extLst>
              <a:ext uri="{FF2B5EF4-FFF2-40B4-BE49-F238E27FC236}">
                <a16:creationId xmlns:a16="http://schemas.microsoft.com/office/drawing/2014/main" id="{BE608C09-F52E-48E5-BC1D-DC308A43A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378" y="4031606"/>
            <a:ext cx="2646845" cy="1781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Дрейф данных | Loginom">
            <a:extLst>
              <a:ext uri="{FF2B5EF4-FFF2-40B4-BE49-F238E27FC236}">
                <a16:creationId xmlns:a16="http://schemas.microsoft.com/office/drawing/2014/main" id="{9FABCBA9-FA70-4527-B70C-66B6A5B6D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194" y="4031606"/>
            <a:ext cx="2356884" cy="178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Статистические тесты в R. Часть 3: Тесты количественных данных / Хабр">
            <a:extLst>
              <a:ext uri="{FF2B5EF4-FFF2-40B4-BE49-F238E27FC236}">
                <a16:creationId xmlns:a16="http://schemas.microsoft.com/office/drawing/2014/main" id="{46C0FD4A-E0F1-4637-AC87-D72FDB69B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9049" y="4031605"/>
            <a:ext cx="2389447" cy="178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70C5FAF-E826-492D-AAB7-3F8C51678B48}"/>
              </a:ext>
            </a:extLst>
          </p:cNvPr>
          <p:cNvSpPr/>
          <p:nvPr/>
        </p:nvSpPr>
        <p:spPr>
          <a:xfrm>
            <a:off x="352229" y="3375560"/>
            <a:ext cx="25154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Дрейф данных 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1E63D9E-2D07-4FC9-86B9-180468A30E97}"/>
              </a:ext>
            </a:extLst>
          </p:cNvPr>
          <p:cNvSpPr/>
          <p:nvPr/>
        </p:nvSpPr>
        <p:spPr>
          <a:xfrm>
            <a:off x="3132111" y="3375560"/>
            <a:ext cx="29638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Дрейф концепции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5237D15-F87F-45E1-8E36-3857B5CC550D}"/>
              </a:ext>
            </a:extLst>
          </p:cNvPr>
          <p:cNvSpPr/>
          <p:nvPr/>
        </p:nvSpPr>
        <p:spPr>
          <a:xfrm>
            <a:off x="6306747" y="3375560"/>
            <a:ext cx="28372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Дрейф </a:t>
            </a:r>
            <a:r>
              <a:rPr lang="ru-RU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производ</a:t>
            </a:r>
            <a:r>
              <a:rPr lang="ru-RU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F9B83A4-B7E4-4F57-A0FF-436FC7228B6F}"/>
              </a:ext>
            </a:extLst>
          </p:cNvPr>
          <p:cNvSpPr/>
          <p:nvPr/>
        </p:nvSpPr>
        <p:spPr>
          <a:xfrm>
            <a:off x="9143999" y="3375560"/>
            <a:ext cx="3016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</a:t>
            </a:r>
            <a:r>
              <a:rPr lang="ru-RU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стат. тестов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457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38EB75-B777-4C36-AA73-FDA99D0E8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87"/>
            <a:ext cx="12192000" cy="685391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D3838-072F-47B0-9454-5D962EA45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Цикл переобучения и управления версиями</a:t>
            </a:r>
            <a:br>
              <a:rPr lang="ru-RU" dirty="0"/>
            </a:br>
            <a:endParaRPr lang="ru-RU" dirty="0"/>
          </a:p>
        </p:txBody>
      </p:sp>
      <p:pic>
        <p:nvPicPr>
          <p:cNvPr id="4098" name="Picture 2" descr="Как мы столкнулись с версионированием и осознали, что вариант «просто  проставить цифры» не работает / Хабр">
            <a:extLst>
              <a:ext uri="{FF2B5EF4-FFF2-40B4-BE49-F238E27FC236}">
                <a16:creationId xmlns:a16="http://schemas.microsoft.com/office/drawing/2014/main" id="{80887205-6DB1-4C8E-8D7F-F7E6035DB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821" y="2673167"/>
            <a:ext cx="3476355" cy="185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C4987CE-7A26-400B-B17E-93626AC63586}"/>
              </a:ext>
            </a:extLst>
          </p:cNvPr>
          <p:cNvSpPr/>
          <p:nvPr/>
        </p:nvSpPr>
        <p:spPr>
          <a:xfrm>
            <a:off x="5111595" y="1961799"/>
            <a:ext cx="1968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Версионирование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545BD6-411F-4049-8B39-FD0722CFD9AC}"/>
              </a:ext>
            </a:extLst>
          </p:cNvPr>
          <p:cNvSpPr/>
          <p:nvPr/>
        </p:nvSpPr>
        <p:spPr>
          <a:xfrm>
            <a:off x="367192" y="2654730"/>
            <a:ext cx="3600787" cy="17919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102" name="Picture 6" descr="Автоматизация: как работают триггеры? | Help Desk &amp; Ticketing System |  Сообщество поддержки - UseResponse">
            <a:extLst>
              <a:ext uri="{FF2B5EF4-FFF2-40B4-BE49-F238E27FC236}">
                <a16:creationId xmlns:a16="http://schemas.microsoft.com/office/drawing/2014/main" id="{3A8E0B26-9219-4F29-AA89-E31ACACE8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576" y="2691602"/>
            <a:ext cx="3289464" cy="1755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E8A6337-D3C3-4D96-807A-7BC5EE92CB5A}"/>
              </a:ext>
            </a:extLst>
          </p:cNvPr>
          <p:cNvSpPr/>
          <p:nvPr/>
        </p:nvSpPr>
        <p:spPr>
          <a:xfrm>
            <a:off x="790060" y="1997261"/>
            <a:ext cx="2755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Автоматизация триггеров 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104" name="Picture 8" descr="A/B-тестирование: что это такое, и как его проводить">
            <a:extLst>
              <a:ext uri="{FF2B5EF4-FFF2-40B4-BE49-F238E27FC236}">
                <a16:creationId xmlns:a16="http://schemas.microsoft.com/office/drawing/2014/main" id="{17A115FD-1CCA-467F-ACA5-4C90F8C44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456" y="2792277"/>
            <a:ext cx="3772499" cy="155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106EDCC-D41E-45AE-B58D-B73D688CECCE}"/>
              </a:ext>
            </a:extLst>
          </p:cNvPr>
          <p:cNvSpPr/>
          <p:nvPr/>
        </p:nvSpPr>
        <p:spPr>
          <a:xfrm>
            <a:off x="9335247" y="2051726"/>
            <a:ext cx="19411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A/B-тестирования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39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B9DD51-B2A7-46FC-9769-676D791A9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391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4AB355-0922-4B73-9C1B-498538209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259" y="112815"/>
            <a:ext cx="7357753" cy="1079109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Обеспечение объяснимости и аудита</a:t>
            </a:r>
            <a:endParaRPr lang="ru-RU" sz="3600" dirty="0">
              <a:solidFill>
                <a:schemeClr val="bg1"/>
              </a:solidFill>
            </a:endParaRPr>
          </a:p>
        </p:txBody>
      </p:sp>
      <p:pic>
        <p:nvPicPr>
          <p:cNvPr id="5122" name="Picture 2" descr="Explainable Artificial Intelligence(XAI) - GeeksforGeeks">
            <a:extLst>
              <a:ext uri="{FF2B5EF4-FFF2-40B4-BE49-F238E27FC236}">
                <a16:creationId xmlns:a16="http://schemas.microsoft.com/office/drawing/2014/main" id="{450CFC77-CC4C-4D9C-A792-7B412C90E7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2" t="2302" r="6332" b="3057"/>
          <a:stretch/>
        </p:blipFill>
        <p:spPr bwMode="auto">
          <a:xfrm>
            <a:off x="1017740" y="2369128"/>
            <a:ext cx="3922161" cy="211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DD7886C-778E-44D7-AFDA-49A0259E3F74}"/>
              </a:ext>
            </a:extLst>
          </p:cNvPr>
          <p:cNvSpPr/>
          <p:nvPr/>
        </p:nvSpPr>
        <p:spPr>
          <a:xfrm>
            <a:off x="1844666" y="1843046"/>
            <a:ext cx="2005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XAI (</a:t>
            </a:r>
            <a:r>
              <a:rPr lang="ru-RU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Explainable</a:t>
            </a:r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AI)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126" name="Picture 6" descr="11.12. Аудиторский след в хозяйственных операциях. Корректировки финансовых  документов :: 1С:ERP Управление предприятием 2, редакция 2.5">
            <a:extLst>
              <a:ext uri="{FF2B5EF4-FFF2-40B4-BE49-F238E27FC236}">
                <a16:creationId xmlns:a16="http://schemas.microsoft.com/office/drawing/2014/main" id="{3D673E6A-809E-4C31-AFB5-5262A83DA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570" y="2369128"/>
            <a:ext cx="3771183" cy="211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187D0BB-D26E-44E7-9572-9D18B76A300F}"/>
              </a:ext>
            </a:extLst>
          </p:cNvPr>
          <p:cNvSpPr/>
          <p:nvPr/>
        </p:nvSpPr>
        <p:spPr>
          <a:xfrm>
            <a:off x="8092579" y="1843046"/>
            <a:ext cx="1953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Аудиторский след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902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9BE18F3-52EF-48E8-93E8-DF42B3A6D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391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0AFECA-2C22-4AA9-997B-B3C402587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err="1">
                <a:solidFill>
                  <a:schemeClr val="bg1"/>
                </a:solidFill>
              </a:rPr>
              <a:t>MLOps</a:t>
            </a:r>
            <a:r>
              <a:rPr lang="ru-RU" b="1" dirty="0">
                <a:solidFill>
                  <a:schemeClr val="bg1"/>
                </a:solidFill>
              </a:rPr>
              <a:t>: методологическая основа поддержки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146" name="Picture 2" descr="Как построить хороший пайплайн разработки ML-модели / Хабр">
            <a:extLst>
              <a:ext uri="{FF2B5EF4-FFF2-40B4-BE49-F238E27FC236}">
                <a16:creationId xmlns:a16="http://schemas.microsoft.com/office/drawing/2014/main" id="{96891273-9ADF-40F3-B1D8-113506D7A3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51" r="16486"/>
          <a:stretch/>
        </p:blipFill>
        <p:spPr bwMode="auto">
          <a:xfrm>
            <a:off x="753913" y="2359772"/>
            <a:ext cx="1859402" cy="413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F8CF47E-0D1A-44C4-9F7E-96A07E5794B5}"/>
              </a:ext>
            </a:extLst>
          </p:cNvPr>
          <p:cNvSpPr/>
          <p:nvPr/>
        </p:nvSpPr>
        <p:spPr>
          <a:xfrm>
            <a:off x="753913" y="1929838"/>
            <a:ext cx="19545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Единый </a:t>
            </a:r>
            <a:r>
              <a:rPr lang="ru-RU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пайплайн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148" name="Picture 4" descr="Инфраструктура как код: повышение безопасности, масштабирование разработки">
            <a:extLst>
              <a:ext uri="{FF2B5EF4-FFF2-40B4-BE49-F238E27FC236}">
                <a16:creationId xmlns:a16="http://schemas.microsoft.com/office/drawing/2014/main" id="{64697F85-B5B1-40EC-91C5-024CF40E4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166" y="3098436"/>
            <a:ext cx="3986151" cy="2655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549CB36-FEBA-419D-9B99-A5E78774F4DB}"/>
              </a:ext>
            </a:extLst>
          </p:cNvPr>
          <p:cNvSpPr/>
          <p:nvPr/>
        </p:nvSpPr>
        <p:spPr>
          <a:xfrm>
            <a:off x="4226032" y="2579229"/>
            <a:ext cx="3039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Инфраструктура как код (</a:t>
            </a:r>
            <a:r>
              <a:rPr lang="ru-RU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IaC</a:t>
            </a:r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150" name="Picture 6" descr="Централизуем управление сетью / Хабр">
            <a:extLst>
              <a:ext uri="{FF2B5EF4-FFF2-40B4-BE49-F238E27FC236}">
                <a16:creationId xmlns:a16="http://schemas.microsoft.com/office/drawing/2014/main" id="{F0402DC6-9137-4021-BE54-79A531A48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6734" y="2114504"/>
            <a:ext cx="2529079" cy="170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59E3395-11DF-4C42-8157-83D80320E386}"/>
              </a:ext>
            </a:extLst>
          </p:cNvPr>
          <p:cNvSpPr/>
          <p:nvPr/>
        </p:nvSpPr>
        <p:spPr>
          <a:xfrm>
            <a:off x="8359581" y="1272274"/>
            <a:ext cx="3286800" cy="657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Централизованное управление экспериментами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152" name="Picture 8" descr="МОНИТОРИНГ">
            <a:extLst>
              <a:ext uri="{FF2B5EF4-FFF2-40B4-BE49-F238E27FC236}">
                <a16:creationId xmlns:a16="http://schemas.microsoft.com/office/drawing/2014/main" id="{A27892A4-8E0C-4335-B516-B7B95F89E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835" y="4482369"/>
            <a:ext cx="3021252" cy="2010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0E2934E-DB8C-44A5-996E-C6A961B1831B}"/>
              </a:ext>
            </a:extLst>
          </p:cNvPr>
          <p:cNvSpPr/>
          <p:nvPr/>
        </p:nvSpPr>
        <p:spPr>
          <a:xfrm>
            <a:off x="9297179" y="3902968"/>
            <a:ext cx="1411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Мониторинг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617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DE5FDA-11A2-41F8-9D45-4365CB8C7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391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53847-9D58-413C-8487-538CC8DD7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517" y="0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Организационные и этические аспекты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7170" name="Picture 2" descr="Кросс-функциональная команда: что это, преимущества, как создать для  управления проектами">
            <a:extLst>
              <a:ext uri="{FF2B5EF4-FFF2-40B4-BE49-F238E27FC236}">
                <a16:creationId xmlns:a16="http://schemas.microsoft.com/office/drawing/2014/main" id="{F173644D-9533-4329-8CF8-255C136DD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07" y="3064876"/>
            <a:ext cx="3763454" cy="2185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CA2849F-00F9-4AD3-896B-A62F6DFC1042}"/>
              </a:ext>
            </a:extLst>
          </p:cNvPr>
          <p:cNvSpPr/>
          <p:nvPr/>
        </p:nvSpPr>
        <p:spPr>
          <a:xfrm>
            <a:off x="513943" y="2559619"/>
            <a:ext cx="34714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Кросс-функциональные команды</a:t>
            </a:r>
          </a:p>
        </p:txBody>
      </p:sp>
      <p:pic>
        <p:nvPicPr>
          <p:cNvPr id="7174" name="Picture 6" descr="Генеративный ИИ (GenAI): возможности и применение">
            <a:extLst>
              <a:ext uri="{FF2B5EF4-FFF2-40B4-BE49-F238E27FC236}">
                <a16:creationId xmlns:a16="http://schemas.microsoft.com/office/drawing/2014/main" id="{841B0B80-7637-4297-9C87-53562B92E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830" y="4450712"/>
            <a:ext cx="2981229" cy="2001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AC290DE-E235-405D-8226-77C2E5F7E235}"/>
              </a:ext>
            </a:extLst>
          </p:cNvPr>
          <p:cNvSpPr/>
          <p:nvPr/>
        </p:nvSpPr>
        <p:spPr>
          <a:xfrm>
            <a:off x="9480920" y="3916283"/>
            <a:ext cx="16524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Гейвернанс</a:t>
            </a:r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ИИ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7176" name="Picture 8" descr="Обучение и консультации пользователей — IT-поддержка ExpressIT">
            <a:extLst>
              <a:ext uri="{FF2B5EF4-FFF2-40B4-BE49-F238E27FC236}">
                <a16:creationId xmlns:a16="http://schemas.microsoft.com/office/drawing/2014/main" id="{6AC19119-BC70-486A-B67D-096C83D5B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4609" y="1628076"/>
            <a:ext cx="2838450" cy="2001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E6C3699-ACF1-4E03-A770-6C9737FD7F3C}"/>
              </a:ext>
            </a:extLst>
          </p:cNvPr>
          <p:cNvSpPr/>
          <p:nvPr/>
        </p:nvSpPr>
        <p:spPr>
          <a:xfrm>
            <a:off x="9101418" y="1093647"/>
            <a:ext cx="26648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Обучение пользователей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7180" name="Picture 12" descr="Управление рисками на предприятие">
            <a:extLst>
              <a:ext uri="{FF2B5EF4-FFF2-40B4-BE49-F238E27FC236}">
                <a16:creationId xmlns:a16="http://schemas.microsoft.com/office/drawing/2014/main" id="{B3120C8F-6229-45BC-BE02-CB04AD7BC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051" y="3010758"/>
            <a:ext cx="2431746" cy="2239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BAF57D5-0D0C-49C9-8C71-567977A9F5BE}"/>
              </a:ext>
            </a:extLst>
          </p:cNvPr>
          <p:cNvSpPr/>
          <p:nvPr/>
        </p:nvSpPr>
        <p:spPr>
          <a:xfrm>
            <a:off x="5583577" y="2518805"/>
            <a:ext cx="22486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Управление рисками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4056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113</Words>
  <Application>Microsoft Office PowerPoint</Application>
  <PresentationFormat>Широкоэкранный</PresentationFormat>
  <Paragraphs>33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Внедрение и поддержка систем на базе искусственного интеллекта и машинного обучения</vt:lpstr>
      <vt:lpstr>Особенности ИИ/ML-систем как объекта внедрения</vt:lpstr>
      <vt:lpstr>Жизненный цикл внедрения ИИ-систем</vt:lpstr>
      <vt:lpstr>Специфика поддержки ИИ-систем в эксплуатации</vt:lpstr>
      <vt:lpstr>Цикл переобучения и управления версиями </vt:lpstr>
      <vt:lpstr>Обеспечение объяснимости и аудита</vt:lpstr>
      <vt:lpstr>MLOps: методологическая основа поддержки</vt:lpstr>
      <vt:lpstr>Организационные и этические аспекты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Внедрение и поддержка систем на базе искусственного интеллекта и машинного обучения</dc:title>
  <dc:creator>Никита Бакшилов</dc:creator>
  <cp:lastModifiedBy>Никита Бакшилов</cp:lastModifiedBy>
  <cp:revision>8</cp:revision>
  <dcterms:created xsi:type="dcterms:W3CDTF">2026-02-03T19:57:40Z</dcterms:created>
  <dcterms:modified xsi:type="dcterms:W3CDTF">2026-02-03T20:43:06Z</dcterms:modified>
</cp:coreProperties>
</file>
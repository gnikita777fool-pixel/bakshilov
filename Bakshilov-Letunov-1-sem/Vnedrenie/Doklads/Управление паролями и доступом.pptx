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0565DC-A5F1-4B29-86B8-9F6CB2C704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Управление паролями и доступом</a:t>
            </a:r>
          </a:p>
        </p:txBody>
      </p:sp>
    </p:spTree>
    <p:extLst>
      <p:ext uri="{BB962C8B-B14F-4D97-AF65-F5344CB8AC3E}">
        <p14:creationId xmlns:p14="http://schemas.microsoft.com/office/powerpoint/2010/main" val="1676447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5C7DF-D541-4203-A51B-180BE7BAC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392" y="1279532"/>
            <a:ext cx="9603275" cy="656145"/>
          </a:xfrm>
        </p:spPr>
        <p:txBody>
          <a:bodyPr/>
          <a:lstStyle/>
          <a:p>
            <a:pPr algn="ctr"/>
            <a:r>
              <a:rPr lang="ru-RU" dirty="0"/>
              <a:t>Ключевые правила управления паролями</a:t>
            </a:r>
          </a:p>
        </p:txBody>
      </p:sp>
      <p:pic>
        <p:nvPicPr>
          <p:cNvPr id="1026" name="Picture 2" descr="Генератор паролей онлайн">
            <a:extLst>
              <a:ext uri="{FF2B5EF4-FFF2-40B4-BE49-F238E27FC236}">
                <a16:creationId xmlns:a16="http://schemas.microsoft.com/office/drawing/2014/main" id="{41BD6D13-51CC-4550-8943-0D80E60C4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210" y="2793175"/>
            <a:ext cx="1955368" cy="2228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042B6E2-3776-4B7B-9D43-E3D2101695A0}"/>
              </a:ext>
            </a:extLst>
          </p:cNvPr>
          <p:cNvSpPr/>
          <p:nvPr/>
        </p:nvSpPr>
        <p:spPr>
          <a:xfrm>
            <a:off x="1103636" y="2423843"/>
            <a:ext cx="1529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Уникальность</a:t>
            </a:r>
            <a:endParaRPr lang="ru-RU" dirty="0"/>
          </a:p>
        </p:txBody>
      </p:sp>
      <p:pic>
        <p:nvPicPr>
          <p:cNvPr id="1028" name="Picture 4" descr="Какова оптимальная длина пароля? / Хабр">
            <a:extLst>
              <a:ext uri="{FF2B5EF4-FFF2-40B4-BE49-F238E27FC236}">
                <a16:creationId xmlns:a16="http://schemas.microsoft.com/office/drawing/2014/main" id="{0C3376FF-76BD-49AF-97D4-1EE18006A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498" y="3361171"/>
            <a:ext cx="3128246" cy="1660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4827405-5D9A-4D55-A8D2-33001A751224}"/>
              </a:ext>
            </a:extLst>
          </p:cNvPr>
          <p:cNvSpPr/>
          <p:nvPr/>
        </p:nvSpPr>
        <p:spPr>
          <a:xfrm>
            <a:off x="3599368" y="2977841"/>
            <a:ext cx="20805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Сложность и длина</a:t>
            </a:r>
            <a:endParaRPr lang="ru-RU" dirty="0"/>
          </a:p>
        </p:txBody>
      </p:sp>
      <p:pic>
        <p:nvPicPr>
          <p:cNvPr id="1030" name="Picture 6" descr="Где хранить пароли: 7 вариантов хранения паролей. - профессиональный  аутсорсинг 2B Service">
            <a:extLst>
              <a:ext uri="{FF2B5EF4-FFF2-40B4-BE49-F238E27FC236}">
                <a16:creationId xmlns:a16="http://schemas.microsoft.com/office/drawing/2014/main" id="{676702E9-EDD0-4FEF-A7C0-51E8D6FB6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7614" y="3036859"/>
            <a:ext cx="1999013" cy="199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EAC4C32-580B-4E3D-B67E-510107AE0C1D}"/>
              </a:ext>
            </a:extLst>
          </p:cNvPr>
          <p:cNvSpPr/>
          <p:nvPr/>
        </p:nvSpPr>
        <p:spPr>
          <a:xfrm>
            <a:off x="7247894" y="2608509"/>
            <a:ext cx="1140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Хранение</a:t>
            </a:r>
            <a:endParaRPr lang="ru-RU" dirty="0"/>
          </a:p>
        </p:txBody>
      </p:sp>
      <p:pic>
        <p:nvPicPr>
          <p:cNvPr id="1032" name="Picture 8" descr="Microsoft рекомендует отказаться от практики регулярной смены паролей">
            <a:extLst>
              <a:ext uri="{FF2B5EF4-FFF2-40B4-BE49-F238E27FC236}">
                <a16:creationId xmlns:a16="http://schemas.microsoft.com/office/drawing/2014/main" id="{3EC03364-D3DB-48B5-A791-8846A3B39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505" y="3429000"/>
            <a:ext cx="2764134" cy="159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925E061-C149-4CD5-8DCF-0D9958C00032}"/>
              </a:ext>
            </a:extLst>
          </p:cNvPr>
          <p:cNvSpPr/>
          <p:nvPr/>
        </p:nvSpPr>
        <p:spPr>
          <a:xfrm>
            <a:off x="9680755" y="2991839"/>
            <a:ext cx="19388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Регулярная смена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6593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8AB8B-8FFF-4288-B76D-7DFBC7261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493" y="124691"/>
            <a:ext cx="9603275" cy="1049235"/>
          </a:xfrm>
        </p:spPr>
        <p:txBody>
          <a:bodyPr/>
          <a:lstStyle/>
          <a:p>
            <a:pPr algn="ctr"/>
            <a:r>
              <a:rPr lang="ru-RU" dirty="0"/>
              <a:t>Многофакторная аутентификация (MFA)</a:t>
            </a:r>
            <a:br>
              <a:rPr lang="ru-RU" dirty="0"/>
            </a:br>
            <a:endParaRPr lang="ru-RU" dirty="0"/>
          </a:p>
        </p:txBody>
      </p:sp>
      <p:pic>
        <p:nvPicPr>
          <p:cNvPr id="2050" name="Picture 2" descr="What is Multi-factor Authentication? | MFA Security Benefits">
            <a:extLst>
              <a:ext uri="{FF2B5EF4-FFF2-40B4-BE49-F238E27FC236}">
                <a16:creationId xmlns:a16="http://schemas.microsoft.com/office/drawing/2014/main" id="{8D88A7AE-4596-487E-9578-31C6D80C6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8019" y="691800"/>
            <a:ext cx="2562225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Создание пин-кода для идентификатора (карта-браслет-брелок)">
            <a:extLst>
              <a:ext uri="{FF2B5EF4-FFF2-40B4-BE49-F238E27FC236}">
                <a16:creationId xmlns:a16="http://schemas.microsoft.com/office/drawing/2014/main" id="{C0F2B996-BF35-4272-9099-76A9ACDF7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64" y="330746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2548986-2081-496E-A4D5-43C24F5D27DD}"/>
              </a:ext>
            </a:extLst>
          </p:cNvPr>
          <p:cNvSpPr/>
          <p:nvPr/>
        </p:nvSpPr>
        <p:spPr>
          <a:xfrm>
            <a:off x="1251852" y="2839974"/>
            <a:ext cx="2121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Пароль или PIN-код</a:t>
            </a:r>
            <a:endParaRPr lang="ru-RU" dirty="0"/>
          </a:p>
        </p:txBody>
      </p:sp>
      <p:pic>
        <p:nvPicPr>
          <p:cNvPr id="2054" name="Picture 6" descr="Токен (авторизации) — Википедия">
            <a:extLst>
              <a:ext uri="{FF2B5EF4-FFF2-40B4-BE49-F238E27FC236}">
                <a16:creationId xmlns:a16="http://schemas.microsoft.com/office/drawing/2014/main" id="{4FD3413A-3349-4017-BCAA-2F2E72B85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8736" y="3307463"/>
            <a:ext cx="2024790" cy="122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392DA66-F30F-43BB-B481-8D65FC3E77CC}"/>
              </a:ext>
            </a:extLst>
          </p:cNvPr>
          <p:cNvSpPr/>
          <p:nvPr/>
        </p:nvSpPr>
        <p:spPr>
          <a:xfrm>
            <a:off x="3661712" y="2839974"/>
            <a:ext cx="33278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Смартфон, токен, ключ доступа.</a:t>
            </a:r>
            <a:endParaRPr lang="ru-RU" dirty="0"/>
          </a:p>
        </p:txBody>
      </p:sp>
      <p:pic>
        <p:nvPicPr>
          <p:cNvPr id="2056" name="Picture 8" descr="Отпечаток пальца | Премиум вектор">
            <a:extLst>
              <a:ext uri="{FF2B5EF4-FFF2-40B4-BE49-F238E27FC236}">
                <a16:creationId xmlns:a16="http://schemas.microsoft.com/office/drawing/2014/main" id="{E63E5BFE-A6CE-4982-8D47-7146E1720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874" y="3209306"/>
            <a:ext cx="1847850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ED70AC3-81FA-49F5-A32A-8A6FFC6F8EAB}"/>
              </a:ext>
            </a:extLst>
          </p:cNvPr>
          <p:cNvSpPr/>
          <p:nvPr/>
        </p:nvSpPr>
        <p:spPr>
          <a:xfrm>
            <a:off x="7277928" y="2875002"/>
            <a:ext cx="40268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Отпечаток пальца, сканирование лица </a:t>
            </a:r>
            <a:endParaRPr lang="ru-RU" dirty="0"/>
          </a:p>
        </p:txBody>
      </p:sp>
      <p:pic>
        <p:nvPicPr>
          <p:cNvPr id="2060" name="Picture 12" descr="Фактчекинг: биометрия станет для россиян обязательной? – Новости –  Аналитика и экспертиза – Национальный исследовательский университет «Высшая  школа экономики»">
            <a:extLst>
              <a:ext uri="{FF2B5EF4-FFF2-40B4-BE49-F238E27FC236}">
                <a16:creationId xmlns:a16="http://schemas.microsoft.com/office/drawing/2014/main" id="{F2DCFD55-FC34-4783-A2DD-54ED60A5E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7987" y="3429000"/>
            <a:ext cx="2628900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Создание ключа доступа для аккаунта Google">
            <a:extLst>
              <a:ext uri="{FF2B5EF4-FFF2-40B4-BE49-F238E27FC236}">
                <a16:creationId xmlns:a16="http://schemas.microsoft.com/office/drawing/2014/main" id="{7DD4F1C7-444A-42E6-AB04-9B0410583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734" y="4647703"/>
            <a:ext cx="2312794" cy="1048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546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C9675C-CEE9-450B-9CD6-320756DC9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119" y="0"/>
            <a:ext cx="9603275" cy="1049235"/>
          </a:xfrm>
        </p:spPr>
        <p:txBody>
          <a:bodyPr/>
          <a:lstStyle/>
          <a:p>
            <a:pPr algn="ctr"/>
            <a:r>
              <a:rPr lang="ru-RU" dirty="0"/>
              <a:t>Управление доступом (IAM)</a:t>
            </a:r>
            <a:br>
              <a:rPr lang="ru-RU" dirty="0"/>
            </a:br>
            <a:endParaRPr lang="ru-RU" dirty="0"/>
          </a:p>
        </p:txBody>
      </p:sp>
      <p:pic>
        <p:nvPicPr>
          <p:cNvPr id="3074" name="Picture 2" descr="IAM Components – THE NUCLEAR GEEKS">
            <a:extLst>
              <a:ext uri="{FF2B5EF4-FFF2-40B4-BE49-F238E27FC236}">
                <a16:creationId xmlns:a16="http://schemas.microsoft.com/office/drawing/2014/main" id="{4A9A3613-E2D3-43EB-9CF3-F91E8EE2F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987" y="524617"/>
            <a:ext cx="4116779" cy="1644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ingle Sign-On overview | Okta Developer">
            <a:extLst>
              <a:ext uri="{FF2B5EF4-FFF2-40B4-BE49-F238E27FC236}">
                <a16:creationId xmlns:a16="http://schemas.microsoft.com/office/drawing/2014/main" id="{BF85D3B3-D72C-45FF-A45F-2A060D2A74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14"/>
          <a:stretch/>
        </p:blipFill>
        <p:spPr bwMode="auto">
          <a:xfrm>
            <a:off x="805543" y="2906485"/>
            <a:ext cx="3896518" cy="2989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20C44B4-67A5-43AA-8832-8076BDB7C0E9}"/>
              </a:ext>
            </a:extLst>
          </p:cNvPr>
          <p:cNvSpPr/>
          <p:nvPr/>
        </p:nvSpPr>
        <p:spPr>
          <a:xfrm>
            <a:off x="1758048" y="2448687"/>
            <a:ext cx="1991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Единый вход - SSO</a:t>
            </a:r>
            <a:endParaRPr lang="ru-RU" dirty="0"/>
          </a:p>
        </p:txBody>
      </p:sp>
      <p:pic>
        <p:nvPicPr>
          <p:cNvPr id="3078" name="Picture 6" descr="От логов к аудиту / Хабр">
            <a:extLst>
              <a:ext uri="{FF2B5EF4-FFF2-40B4-BE49-F238E27FC236}">
                <a16:creationId xmlns:a16="http://schemas.microsoft.com/office/drawing/2014/main" id="{29424E41-6E06-4E5E-B1AA-86B70F4D2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628" y="2906484"/>
            <a:ext cx="3418278" cy="2989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2B1D3D7-E276-4768-AA3E-2C71053C9280}"/>
              </a:ext>
            </a:extLst>
          </p:cNvPr>
          <p:cNvSpPr/>
          <p:nvPr/>
        </p:nvSpPr>
        <p:spPr>
          <a:xfrm>
            <a:off x="7546836" y="2508600"/>
            <a:ext cx="2252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Аудит и логирование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073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01C5D1-3BB3-439C-A231-682FC5B45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32" y="0"/>
            <a:ext cx="9603275" cy="1049235"/>
          </a:xfrm>
        </p:spPr>
        <p:txBody>
          <a:bodyPr/>
          <a:lstStyle/>
          <a:p>
            <a:pPr algn="ctr"/>
            <a:r>
              <a:rPr lang="ru-RU" dirty="0"/>
              <a:t>Инструменты для пользователей и организаций</a:t>
            </a:r>
          </a:p>
        </p:txBody>
      </p:sp>
      <p:pic>
        <p:nvPicPr>
          <p:cNvPr id="4098" name="Picture 2" descr="Менеджеры паролей — краткий обзор / Хабр">
            <a:extLst>
              <a:ext uri="{FF2B5EF4-FFF2-40B4-BE49-F238E27FC236}">
                <a16:creationId xmlns:a16="http://schemas.microsoft.com/office/drawing/2014/main" id="{99200D16-7E96-46C5-87D5-CD5F56038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337" y="2887126"/>
            <a:ext cx="3615728" cy="2763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822A111-C9ED-454D-82D5-DC5C2CE4FF6A}"/>
              </a:ext>
            </a:extLst>
          </p:cNvPr>
          <p:cNvSpPr/>
          <p:nvPr/>
        </p:nvSpPr>
        <p:spPr>
          <a:xfrm>
            <a:off x="1708444" y="2407124"/>
            <a:ext cx="22888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Менеджеры паролей</a:t>
            </a:r>
            <a:endParaRPr lang="ru-RU" dirty="0"/>
          </a:p>
        </p:txBody>
      </p:sp>
      <p:pic>
        <p:nvPicPr>
          <p:cNvPr id="4100" name="Picture 4" descr="Аппаратный ключ безопасности Yubikey • Александр Linux">
            <a:extLst>
              <a:ext uri="{FF2B5EF4-FFF2-40B4-BE49-F238E27FC236}">
                <a16:creationId xmlns:a16="http://schemas.microsoft.com/office/drawing/2014/main" id="{555423C0-9015-4BCF-AB76-7620383FD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3987" y="2944338"/>
            <a:ext cx="3027218" cy="264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F915FC5-EE23-4442-954F-D27CA0036F4B}"/>
              </a:ext>
            </a:extLst>
          </p:cNvPr>
          <p:cNvSpPr/>
          <p:nvPr/>
        </p:nvSpPr>
        <p:spPr>
          <a:xfrm>
            <a:off x="6610988" y="2407124"/>
            <a:ext cx="34588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Аппаратные ключи безопасности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813295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{5ED7A764-8607-435C-878C-9FA5792A00A8}TFc986dd65-aaf0-4d5c-bef9-9c391ee05f7b5669cfdc-fe16c7d7e3cd</Template>
  <TotalTime>15</TotalTime>
  <Words>59</Words>
  <Application>Microsoft Office PowerPoint</Application>
  <PresentationFormat>Широкоэкранный</PresentationFormat>
  <Paragraphs>16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Gill Sans MT</vt:lpstr>
      <vt:lpstr>Галерея</vt:lpstr>
      <vt:lpstr>Управление паролями и доступом</vt:lpstr>
      <vt:lpstr>Ключевые правила управления паролями</vt:lpstr>
      <vt:lpstr>Многофакторная аутентификация (MFA) </vt:lpstr>
      <vt:lpstr>Управление доступом (IAM) </vt:lpstr>
      <vt:lpstr>Инструменты для пользователей и организаций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паролями и доступом</dc:title>
  <dc:creator>Никита Бакшилов</dc:creator>
  <cp:lastModifiedBy>Никита Бакшилов</cp:lastModifiedBy>
  <cp:revision>5</cp:revision>
  <dcterms:created xsi:type="dcterms:W3CDTF">2026-02-19T05:05:35Z</dcterms:created>
  <dcterms:modified xsi:type="dcterms:W3CDTF">2026-02-19T05:20:37Z</dcterms:modified>
</cp:coreProperties>
</file>
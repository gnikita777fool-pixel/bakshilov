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59" r:id="rId5"/>
    <p:sldId id="258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952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134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808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678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940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422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2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136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72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837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133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257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389BAC60-96D0-9BEF-3302-2699EA9366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0"/>
            <a:ext cx="12191999" cy="13716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56AD16-9115-4020-9A73-A8946286CD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15000"/>
            <a:ext cx="8027544" cy="960120"/>
          </a:xfrm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100"/>
              <a:t>Типы компьютерных сетей (LAN, WAN, MAN, PAN)</a:t>
            </a:r>
          </a:p>
        </p:txBody>
      </p:sp>
    </p:spTree>
    <p:extLst>
      <p:ext uri="{BB962C8B-B14F-4D97-AF65-F5344CB8AC3E}">
        <p14:creationId xmlns:p14="http://schemas.microsoft.com/office/powerpoint/2010/main" val="4138348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D25A3B-BBB2-4201-BE6E-B96F307E0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326" y="77189"/>
            <a:ext cx="10691265" cy="1307592"/>
          </a:xfrm>
        </p:spPr>
        <p:txBody>
          <a:bodyPr>
            <a:normAutofit fontScale="90000"/>
          </a:bodyPr>
          <a:lstStyle/>
          <a:p>
            <a:r>
              <a:rPr lang="ru-RU" dirty="0"/>
              <a:t>Персональная сеть</a:t>
            </a:r>
            <a:r>
              <a:rPr lang="en-US" dirty="0"/>
              <a:t> (PAN — Personal Area Network)</a:t>
            </a:r>
            <a:endParaRPr lang="ru-RU" dirty="0"/>
          </a:p>
        </p:txBody>
      </p:sp>
      <p:pic>
        <p:nvPicPr>
          <p:cNvPr id="4098" name="Picture 2" descr="What is PAN (Personal Area Network) - SynchroNet">
            <a:extLst>
              <a:ext uri="{FF2B5EF4-FFF2-40B4-BE49-F238E27FC236}">
                <a16:creationId xmlns:a16="http://schemas.microsoft.com/office/drawing/2014/main" id="{96CA8953-230E-47B7-BE87-1961F3827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173" y="1384781"/>
            <a:ext cx="7904078" cy="4516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5125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6675BE-0D13-4304-8412-7EDEA2512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41564"/>
            <a:ext cx="10691265" cy="1307592"/>
          </a:xfrm>
        </p:spPr>
        <p:txBody>
          <a:bodyPr>
            <a:normAutofit fontScale="90000"/>
          </a:bodyPr>
          <a:lstStyle/>
          <a:p>
            <a:r>
              <a:rPr lang="ru-RU" dirty="0"/>
              <a:t>Локальная сеть</a:t>
            </a:r>
            <a:r>
              <a:rPr lang="en-US" dirty="0"/>
              <a:t> (LAN — Local Area Network)</a:t>
            </a:r>
            <a:endParaRPr lang="ru-RU" dirty="0"/>
          </a:p>
        </p:txBody>
      </p:sp>
      <p:pic>
        <p:nvPicPr>
          <p:cNvPr id="1026" name="Picture 2" descr="What is LAN (Local Area Network)? Understanding LAN's Working, Types and  Features - GeeksforGeeks">
            <a:extLst>
              <a:ext uri="{FF2B5EF4-FFF2-40B4-BE49-F238E27FC236}">
                <a16:creationId xmlns:a16="http://schemas.microsoft.com/office/drawing/2014/main" id="{2F2F19EE-39E1-4C20-A850-8142904BB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06" y="822366"/>
            <a:ext cx="59817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cal area network - Wikipedia">
            <a:extLst>
              <a:ext uri="{FF2B5EF4-FFF2-40B4-BE49-F238E27FC236}">
                <a16:creationId xmlns:a16="http://schemas.microsoft.com/office/drawing/2014/main" id="{40E5D49D-7F2F-4119-A375-11920904D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891" y="1349156"/>
            <a:ext cx="5667581" cy="3714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9093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53CD1-1032-45AA-A751-91943D2D0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118754"/>
            <a:ext cx="10691265" cy="1307592"/>
          </a:xfrm>
        </p:spPr>
        <p:txBody>
          <a:bodyPr>
            <a:normAutofit fontScale="90000"/>
          </a:bodyPr>
          <a:lstStyle/>
          <a:p>
            <a:r>
              <a:rPr lang="ru-RU" dirty="0"/>
              <a:t>Городская сеть</a:t>
            </a:r>
            <a:r>
              <a:rPr lang="en-US" dirty="0"/>
              <a:t> (MAN — Metropolitan Area Network)</a:t>
            </a:r>
            <a:br>
              <a:rPr lang="ru-RU" dirty="0"/>
            </a:br>
            <a:endParaRPr lang="ru-RU" dirty="0"/>
          </a:p>
        </p:txBody>
      </p:sp>
      <p:pic>
        <p:nvPicPr>
          <p:cNvPr id="3076" name="Picture 4" descr="What is Metropolitan Area Network? @therouterroute">
            <a:extLst>
              <a:ext uri="{FF2B5EF4-FFF2-40B4-BE49-F238E27FC236}">
                <a16:creationId xmlns:a16="http://schemas.microsoft.com/office/drawing/2014/main" id="{64D6F2F4-D2C7-4034-8199-7AC05F32E9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87" t="15352" r="11657" b="1597"/>
          <a:stretch/>
        </p:blipFill>
        <p:spPr bwMode="auto">
          <a:xfrm>
            <a:off x="843148" y="1660355"/>
            <a:ext cx="5480462" cy="3393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LAN против MAN против WAN, понимание различий в типах сетей-QSFPTEK">
            <a:extLst>
              <a:ext uri="{FF2B5EF4-FFF2-40B4-BE49-F238E27FC236}">
                <a16:creationId xmlns:a16="http://schemas.microsoft.com/office/drawing/2014/main" id="{17418A6C-369D-484C-A53A-66AA4F24E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107" y="2547258"/>
            <a:ext cx="5314525" cy="1667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0392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33D79B-C7F3-4984-9E1E-0F76B4694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4" y="59376"/>
            <a:ext cx="10691265" cy="1307592"/>
          </a:xfrm>
        </p:spPr>
        <p:txBody>
          <a:bodyPr>
            <a:normAutofit fontScale="90000"/>
          </a:bodyPr>
          <a:lstStyle/>
          <a:p>
            <a:r>
              <a:rPr lang="ru-RU" dirty="0"/>
              <a:t>Глобальная сеть</a:t>
            </a:r>
            <a:r>
              <a:rPr lang="en-US" dirty="0"/>
              <a:t> (WAN — Wide Area Network)</a:t>
            </a:r>
            <a:br>
              <a:rPr lang="ru-RU" dirty="0"/>
            </a:br>
            <a:endParaRPr lang="ru-RU" dirty="0"/>
          </a:p>
        </p:txBody>
      </p:sp>
      <p:pic>
        <p:nvPicPr>
          <p:cNvPr id="2050" name="Picture 2" descr="Wide Area Network (WAN): Protocols, Optimization &amp; SD‑WAN">
            <a:extLst>
              <a:ext uri="{FF2B5EF4-FFF2-40B4-BE49-F238E27FC236}">
                <a16:creationId xmlns:a16="http://schemas.microsoft.com/office/drawing/2014/main" id="{A3BC0D9A-E824-484E-90B3-F0A57B38F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07" y="1021278"/>
            <a:ext cx="6506317" cy="4582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AN и LAN порты на роутере: что это, чем отличаются разъемы, расшифровка,  подключение">
            <a:extLst>
              <a:ext uri="{FF2B5EF4-FFF2-40B4-BE49-F238E27FC236}">
                <a16:creationId xmlns:a16="http://schemas.microsoft.com/office/drawing/2014/main" id="{D985D576-6A08-4B90-9AAD-0DDB47BD7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9241" y="1254510"/>
            <a:ext cx="5204855" cy="3035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9173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024AF4-1653-4FDD-AE00-F2CC7E731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4" y="-50927"/>
            <a:ext cx="10691265" cy="1307592"/>
          </a:xfrm>
        </p:spPr>
        <p:txBody>
          <a:bodyPr/>
          <a:lstStyle/>
          <a:p>
            <a:pPr algn="ctr"/>
            <a:r>
              <a:rPr lang="ru-RU" dirty="0"/>
              <a:t>Сравнительная таблица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09104A2-C0D4-46BB-8E74-E98558030D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442249"/>
              </p:ext>
            </p:extLst>
          </p:nvPr>
        </p:nvGraphicFramePr>
        <p:xfrm>
          <a:off x="700089" y="2957888"/>
          <a:ext cx="10691810" cy="3017520"/>
        </p:xfrm>
        <a:graphic>
          <a:graphicData uri="http://schemas.openxmlformats.org/drawingml/2006/table">
            <a:tbl>
              <a:tblPr/>
              <a:tblGrid>
                <a:gridCol w="2138362">
                  <a:extLst>
                    <a:ext uri="{9D8B030D-6E8A-4147-A177-3AD203B41FA5}">
                      <a16:colId xmlns:a16="http://schemas.microsoft.com/office/drawing/2014/main" val="1452836518"/>
                    </a:ext>
                  </a:extLst>
                </a:gridCol>
                <a:gridCol w="2138362">
                  <a:extLst>
                    <a:ext uri="{9D8B030D-6E8A-4147-A177-3AD203B41FA5}">
                      <a16:colId xmlns:a16="http://schemas.microsoft.com/office/drawing/2014/main" val="3421090899"/>
                    </a:ext>
                  </a:extLst>
                </a:gridCol>
                <a:gridCol w="2138362">
                  <a:extLst>
                    <a:ext uri="{9D8B030D-6E8A-4147-A177-3AD203B41FA5}">
                      <a16:colId xmlns:a16="http://schemas.microsoft.com/office/drawing/2014/main" val="2990099742"/>
                    </a:ext>
                  </a:extLst>
                </a:gridCol>
                <a:gridCol w="2138362">
                  <a:extLst>
                    <a:ext uri="{9D8B030D-6E8A-4147-A177-3AD203B41FA5}">
                      <a16:colId xmlns:a16="http://schemas.microsoft.com/office/drawing/2014/main" val="2151120939"/>
                    </a:ext>
                  </a:extLst>
                </a:gridCol>
                <a:gridCol w="2138362">
                  <a:extLst>
                    <a:ext uri="{9D8B030D-6E8A-4147-A177-3AD203B41FA5}">
                      <a16:colId xmlns:a16="http://schemas.microsoft.com/office/drawing/2014/main" val="13246281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  <a:highlight>
                            <a:srgbClr val="FFFF00"/>
                          </a:highlight>
                        </a:rPr>
                        <a:t>Параметры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  <a:highlight>
                            <a:srgbClr val="FFFF00"/>
                          </a:highlight>
                        </a:rPr>
                        <a:t>PAN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  <a:highlight>
                            <a:srgbClr val="FFFF00"/>
                          </a:highlight>
                        </a:rPr>
                        <a:t>LAN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  <a:highlight>
                            <a:srgbClr val="FFFF00"/>
                          </a:highlight>
                        </a:rPr>
                        <a:t>MAN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  <a:highlight>
                            <a:srgbClr val="FFFF00"/>
                          </a:highlight>
                        </a:rPr>
                        <a:t>WAN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563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effectLst/>
                          <a:highlight>
                            <a:srgbClr val="FFFF00"/>
                          </a:highlight>
                        </a:rPr>
                        <a:t>Расшифровка</a:t>
                      </a:r>
                      <a:r>
                        <a:rPr lang="en-US" b="1" dirty="0">
                          <a:effectLst/>
                          <a:highlight>
                            <a:srgbClr val="FFFF00"/>
                          </a:highlight>
                        </a:rPr>
                        <a:t>:</a:t>
                      </a:r>
                      <a:endParaRPr lang="ru-RU" dirty="0"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  <a:highlight>
                            <a:srgbClr val="FFFF00"/>
                          </a:highlight>
                        </a:rPr>
                        <a:t>Personal Area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  <a:highlight>
                            <a:srgbClr val="FFFF00"/>
                          </a:highlight>
                        </a:rPr>
                        <a:t>Local Area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  <a:highlight>
                            <a:srgbClr val="FFFF00"/>
                          </a:highlight>
                        </a:rPr>
                        <a:t>Metropolitan Area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  <a:highlight>
                            <a:srgbClr val="FFFF00"/>
                          </a:highlight>
                        </a:rPr>
                        <a:t>Wide Area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05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effectLst/>
                          <a:highlight>
                            <a:srgbClr val="FFFF00"/>
                          </a:highlight>
                        </a:rPr>
                        <a:t>Радиус</a:t>
                      </a:r>
                      <a:r>
                        <a:rPr lang="en-US" b="1" dirty="0">
                          <a:effectLst/>
                          <a:highlight>
                            <a:srgbClr val="FFFF00"/>
                          </a:highlight>
                        </a:rPr>
                        <a:t>:</a:t>
                      </a:r>
                      <a:endParaRPr lang="ru-RU" dirty="0"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  <a:highlight>
                            <a:srgbClr val="FFFF00"/>
                          </a:highlight>
                        </a:rPr>
                        <a:t>~10 метров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  <a:highlight>
                            <a:srgbClr val="FFFF00"/>
                          </a:highlight>
                        </a:rPr>
                        <a:t>~1 км (здание)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  <a:highlight>
                            <a:srgbClr val="FFFF00"/>
                          </a:highlight>
                        </a:rPr>
                        <a:t>~50 км (город)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  <a:highlight>
                            <a:srgbClr val="FFFF00"/>
                          </a:highlight>
                        </a:rPr>
                        <a:t>Неограничен (мир)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903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effectLst/>
                          <a:highlight>
                            <a:srgbClr val="FFFF00"/>
                          </a:highlight>
                        </a:rPr>
                        <a:t>Скорость</a:t>
                      </a:r>
                      <a:r>
                        <a:rPr lang="en-US" b="1" dirty="0">
                          <a:effectLst/>
                          <a:highlight>
                            <a:srgbClr val="FFFF00"/>
                          </a:highlight>
                        </a:rPr>
                        <a:t>:</a:t>
                      </a:r>
                      <a:endParaRPr lang="ru-RU" dirty="0"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  <a:highlight>
                            <a:srgbClr val="FFFF00"/>
                          </a:highlight>
                        </a:rPr>
                        <a:t>Низкая/Средняя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  <a:highlight>
                            <a:srgbClr val="FFFF00"/>
                          </a:highlight>
                        </a:rPr>
                        <a:t>Очень высокая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  <a:highlight>
                            <a:srgbClr val="FFFF00"/>
                          </a:highlight>
                        </a:rPr>
                        <a:t>Высокая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  <a:highlight>
                            <a:srgbClr val="FFFF00"/>
                          </a:highlight>
                        </a:rPr>
                        <a:t>Средняя/Высокая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434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effectLst/>
                          <a:highlight>
                            <a:srgbClr val="FFFF00"/>
                          </a:highlight>
                        </a:rPr>
                        <a:t>Владение</a:t>
                      </a:r>
                      <a:r>
                        <a:rPr lang="en-US" b="1" dirty="0">
                          <a:effectLst/>
                          <a:highlight>
                            <a:srgbClr val="FFFF00"/>
                          </a:highlight>
                        </a:rPr>
                        <a:t>:</a:t>
                      </a:r>
                      <a:endParaRPr lang="ru-RU" dirty="0"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  <a:highlight>
                            <a:srgbClr val="FFFF00"/>
                          </a:highlight>
                        </a:rPr>
                        <a:t>Частное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  <a:highlight>
                            <a:srgbClr val="FFFF00"/>
                          </a:highlight>
                        </a:rPr>
                        <a:t>Частное/Корпоративное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  <a:highlight>
                            <a:srgbClr val="FFFF00"/>
                          </a:highlight>
                        </a:rPr>
                        <a:t>Провайдер/Город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  <a:highlight>
                            <a:srgbClr val="FFFF00"/>
                          </a:highlight>
                        </a:rPr>
                        <a:t>Провайдеры/Государства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096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effectLst/>
                          <a:highlight>
                            <a:srgbClr val="FFFF00"/>
                          </a:highlight>
                        </a:rPr>
                        <a:t>Пример</a:t>
                      </a:r>
                      <a:r>
                        <a:rPr lang="en-US" b="1" dirty="0">
                          <a:effectLst/>
                          <a:highlight>
                            <a:srgbClr val="FFFF00"/>
                          </a:highlight>
                        </a:rPr>
                        <a:t>:</a:t>
                      </a:r>
                      <a:endParaRPr lang="ru-RU" dirty="0"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323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  <a:highlight>
                            <a:srgbClr val="FFFF00"/>
                          </a:highlight>
                        </a:rPr>
                        <a:t>Bluetooth-</a:t>
                      </a:r>
                      <a:r>
                        <a:rPr lang="ru-RU">
                          <a:effectLst/>
                          <a:highlight>
                            <a:srgbClr val="FFFF00"/>
                          </a:highlight>
                        </a:rPr>
                        <a:t>наушники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323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  <a:highlight>
                            <a:srgbClr val="FFFF00"/>
                          </a:highlight>
                        </a:rPr>
                        <a:t>Домашний </a:t>
                      </a:r>
                      <a:r>
                        <a:rPr lang="en-US">
                          <a:effectLst/>
                          <a:highlight>
                            <a:srgbClr val="FFFF00"/>
                          </a:highlight>
                        </a:rPr>
                        <a:t>Wi-Fi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323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  <a:highlight>
                            <a:srgbClr val="FFFF00"/>
                          </a:highlight>
                        </a:rPr>
                        <a:t>Городская сеть провайдера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323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  <a:highlight>
                            <a:srgbClr val="FFFF00"/>
                          </a:highlight>
                        </a:rPr>
                        <a:t>Интернет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3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461567"/>
                  </a:ext>
                </a:extLst>
              </a:tr>
            </a:tbl>
          </a:graphicData>
        </a:graphic>
      </p:graphicFrame>
      <p:pic>
        <p:nvPicPr>
          <p:cNvPr id="5122" name="Picture 2" descr="What Is a Personal Area Network (PAN)? - WhatIsMyIP.com®">
            <a:extLst>
              <a:ext uri="{FF2B5EF4-FFF2-40B4-BE49-F238E27FC236}">
                <a16:creationId xmlns:a16="http://schemas.microsoft.com/office/drawing/2014/main" id="{AE0758F9-7E75-4D9E-BBBA-566C97175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5170" y="1015340"/>
            <a:ext cx="2118204" cy="177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LAN против MAN против WAN, понимание различий в типах сетей-QSFPTEK">
            <a:extLst>
              <a:ext uri="{FF2B5EF4-FFF2-40B4-BE49-F238E27FC236}">
                <a16:creationId xmlns:a16="http://schemas.microsoft.com/office/drawing/2014/main" id="{CE2168BB-B958-413F-A3B9-6CA153F725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6" r="17819"/>
          <a:stretch/>
        </p:blipFill>
        <p:spPr bwMode="auto">
          <a:xfrm>
            <a:off x="5153890" y="1243855"/>
            <a:ext cx="1669535" cy="1543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Metropolitan Area Network (MAN) - CyberHoot">
            <a:extLst>
              <a:ext uri="{FF2B5EF4-FFF2-40B4-BE49-F238E27FC236}">
                <a16:creationId xmlns:a16="http://schemas.microsoft.com/office/drawing/2014/main" id="{2BFF89DB-8E44-41C7-88F4-88A311F71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0" t="4851" r="3564" b="12661"/>
          <a:stretch/>
        </p:blipFill>
        <p:spPr bwMode="auto">
          <a:xfrm>
            <a:off x="7322869" y="1363483"/>
            <a:ext cx="1669534" cy="1487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Что такое WAN? Чем отличается разъем WAN от LAN на роутере?">
            <a:extLst>
              <a:ext uri="{FF2B5EF4-FFF2-40B4-BE49-F238E27FC236}">
                <a16:creationId xmlns:a16="http://schemas.microsoft.com/office/drawing/2014/main" id="{88D36CF4-BAE2-4273-BBA3-84324C8355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46" r="7305"/>
          <a:stretch/>
        </p:blipFill>
        <p:spPr bwMode="auto">
          <a:xfrm>
            <a:off x="9340929" y="1363483"/>
            <a:ext cx="2050969" cy="1540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829239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121</Words>
  <Application>Microsoft Office PowerPoint</Application>
  <PresentationFormat>Широкоэкранный</PresentationFormat>
  <Paragraphs>36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Calisto MT</vt:lpstr>
      <vt:lpstr>Univers Condensed</vt:lpstr>
      <vt:lpstr>ChronicleVTI</vt:lpstr>
      <vt:lpstr>Типы компьютерных сетей (LAN, WAN, MAN, PAN)</vt:lpstr>
      <vt:lpstr>Персональная сеть (PAN — Personal Area Network)</vt:lpstr>
      <vt:lpstr>Локальная сеть (LAN — Local Area Network)</vt:lpstr>
      <vt:lpstr>Городская сеть (MAN — Metropolitan Area Network) </vt:lpstr>
      <vt:lpstr>Глобальная сеть (WAN — Wide Area Network) </vt:lpstr>
      <vt:lpstr>Сравнительная таблица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Типы компьютерных сетей (LAN, WAN, MAN, PAN)</dc:title>
  <dc:creator>Никита Бакшилов</dc:creator>
  <cp:lastModifiedBy>Никита Бакшилов</cp:lastModifiedBy>
  <cp:revision>3</cp:revision>
  <dcterms:created xsi:type="dcterms:W3CDTF">2026-03-24T04:54:34Z</dcterms:created>
  <dcterms:modified xsi:type="dcterms:W3CDTF">2026-03-24T05:08:12Z</dcterms:modified>
</cp:coreProperties>
</file>
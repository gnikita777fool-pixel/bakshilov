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5" r:id="rId9"/>
    <p:sldId id="262" r:id="rId10"/>
    <p:sldId id="263" r:id="rId11"/>
    <p:sldId id="264" r:id="rId12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55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37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gif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083237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Общие принципы построения компьютерных сетей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4241125"/>
            <a:ext cx="755642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Короткое введение: презентация объясняет базовые концепции, требования к качеству обслуживания (QoS), подходы к проектированию больших сетей, оборудование для структурирования и примеры ограничений типовых топологий. Цель — дать практический набор принципов для проектирования надёжной, масштабируемой и управляемой сети.</a:t>
            </a:r>
            <a:endParaRPr lang="en-US" sz="15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8C9155C-DBA7-48AF-B86E-D8C7FFAB7266}"/>
              </a:ext>
            </a:extLst>
          </p:cNvPr>
          <p:cNvSpPr/>
          <p:nvPr/>
        </p:nvSpPr>
        <p:spPr>
          <a:xfrm>
            <a:off x="12674121" y="7601789"/>
            <a:ext cx="1935123" cy="620316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606028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Глава 1: Основы и требования к современным сетям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2763917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Современная сеть — это не только кабели и свитчи, но и согласованный набор требований: производительность, безопасность, управляемость и способность масштабироваться. При проектировании важно начинать с целей: какие сервисы будут работать (веб, голос, видео, IoT), какие уровни доступности и какие сценарии пиковых нагрузок ожидаются.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4574858"/>
            <a:ext cx="2386489" cy="3048714"/>
          </a:xfrm>
          <a:prstGeom prst="roundRect">
            <a:avLst>
              <a:gd name="adj" fmla="val 7485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992148" y="4773216"/>
            <a:ext cx="19897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Цели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2148" y="5202436"/>
            <a:ext cx="198977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Доступность сервисов, минимальные задержки, предсказуемая производительность.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378637" y="4574858"/>
            <a:ext cx="2386608" cy="3048714"/>
          </a:xfrm>
          <a:prstGeom prst="roundRect">
            <a:avLst>
              <a:gd name="adj" fmla="val 7485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3576995" y="4773216"/>
            <a:ext cx="19898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Ограничения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3576995" y="5202436"/>
            <a:ext cx="19898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Бюджет, существующая инфраструктура, требования к безопасности и соответствию.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963603" y="4574858"/>
            <a:ext cx="2386608" cy="3048714"/>
          </a:xfrm>
          <a:prstGeom prst="roundRect">
            <a:avLst>
              <a:gd name="adj" fmla="val 7485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6161961" y="4773216"/>
            <a:ext cx="19898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Риски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161961" y="5202436"/>
            <a:ext cx="19898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Отказ оборудования, атаки, перегрузки — проектировать с учетом резервирования.</a:t>
            </a:r>
            <a:endParaRPr lang="en-US" sz="1550" dirty="0"/>
          </a:p>
        </p:txBody>
      </p:sp>
      <p:pic>
        <p:nvPicPr>
          <p:cNvPr id="5122" name="Picture 2" descr="IoT в России задокументировали">
            <a:extLst>
              <a:ext uri="{FF2B5EF4-FFF2-40B4-BE49-F238E27FC236}">
                <a16:creationId xmlns:a16="http://schemas.microsoft.com/office/drawing/2014/main" id="{2464702E-737F-41E8-862B-A0EA03AF5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1796"/>
            <a:ext cx="5486400" cy="409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54245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Главная цель сети: доступ к ресурсам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3080266"/>
            <a:ext cx="755642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Сеть организована для того, чтобы пользователи и приложения могли безопасно и эффективно обмениваться данными и пользоваться общими ресурсами: файлами, принтерами, базами данных, облачными сервисами. Доступ должен быть быстрым, предсказуемым и контролируемым — с разграничением прав, мониторингом и логированием.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5208746"/>
            <a:ext cx="7556421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Общий доступ к файлам и приложениям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Централизованное аутентифицирование и управление правами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Защищённые каналы доступа (VPN, TLS)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Мониторинг и аудит использования ресурсов</a:t>
            </a:r>
            <a:endParaRPr lang="en-US" sz="15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7963340-6311-43BD-BCCC-5549BA77A196}"/>
              </a:ext>
            </a:extLst>
          </p:cNvPr>
          <p:cNvSpPr/>
          <p:nvPr/>
        </p:nvSpPr>
        <p:spPr>
          <a:xfrm>
            <a:off x="12674121" y="7601789"/>
            <a:ext cx="1935123" cy="620316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4" name="Text 1"/>
          <p:cNvSpPr/>
          <p:nvPr/>
        </p:nvSpPr>
        <p:spPr>
          <a:xfrm>
            <a:off x="6193393" y="716637"/>
            <a:ext cx="773001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Ключевые требования к качеству обслуживания (QoS)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193393" y="2057638"/>
            <a:ext cx="7730014" cy="106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QoS определяет, как сеть распределяет ресурсы между типами трафика и пользователями. Для проектирования важно формализовать метрики и целевые показатели: требуемая пропускная способность, допустимые задержки и джиттер, уровни доступности и допустимое время восстановления после отказа.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215420" y="3303151"/>
            <a:ext cx="397550" cy="444103"/>
          </a:xfrm>
          <a:prstGeom prst="roundRect">
            <a:avLst>
              <a:gd name="adj" fmla="val 13801"/>
            </a:avLst>
          </a:prstGeom>
          <a:solidFill>
            <a:srgbClr val="DFDF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764" y="3419713"/>
            <a:ext cx="220861" cy="1766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31925" y="3304342"/>
            <a:ext cx="248912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Производительность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831925" y="3674983"/>
            <a:ext cx="709148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Пропускная способность, задержка, время отклика — измеряем и задаём SLA.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15420" y="4256008"/>
            <a:ext cx="397550" cy="444103"/>
          </a:xfrm>
          <a:prstGeom prst="roundRect">
            <a:avLst>
              <a:gd name="adj" fmla="val 13801"/>
            </a:avLst>
          </a:prstGeom>
          <a:solidFill>
            <a:srgbClr val="DFDFE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764" y="4372570"/>
            <a:ext cx="220861" cy="1766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31925" y="4257199"/>
            <a:ext cx="324969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Надёжность и безопасность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831925" y="4627840"/>
            <a:ext cx="709148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Резервирование, шифрование, бэкапы, защита на границе сети.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5420" y="5208865"/>
            <a:ext cx="397550" cy="444103"/>
          </a:xfrm>
          <a:prstGeom prst="roundRect">
            <a:avLst>
              <a:gd name="adj" fmla="val 13801"/>
            </a:avLst>
          </a:prstGeom>
          <a:solidFill>
            <a:srgbClr val="DFDFE0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764" y="5325428"/>
            <a:ext cx="220861" cy="17668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31925" y="5210056"/>
            <a:ext cx="231171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Масштабируемость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831925" y="5580698"/>
            <a:ext cx="709148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Рост </a:t>
            </a:r>
            <a:r>
              <a:rPr lang="en-US" sz="13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числа</a:t>
            </a: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3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пользователе</a:t>
            </a:r>
            <a:r>
              <a:rPr lang="ru-RU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й</a:t>
            </a: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и устройств без деградации сервиса.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215420" y="6161723"/>
            <a:ext cx="397550" cy="444103"/>
          </a:xfrm>
          <a:prstGeom prst="roundRect">
            <a:avLst>
              <a:gd name="adj" fmla="val 13801"/>
            </a:avLst>
          </a:prstGeom>
          <a:solidFill>
            <a:srgbClr val="DFDFE0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764" y="6278285"/>
            <a:ext cx="220861" cy="17668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31925" y="6162913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Управляемость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6831925" y="6533555"/>
            <a:ext cx="709148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Инструменты мониторинга, централизованное управление конфигурацией.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193393" y="6978015"/>
            <a:ext cx="7730014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Поддержка голосового и видеотрафика требует приоритетов и контроля задержек; текстовый трафик более терпим к вариациям.</a:t>
            </a:r>
            <a:endParaRPr lang="en-US" sz="13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AFDCF7E-713B-4491-BE6B-4B2F0339EACA}"/>
              </a:ext>
            </a:extLst>
          </p:cNvPr>
          <p:cNvSpPr/>
          <p:nvPr/>
        </p:nvSpPr>
        <p:spPr>
          <a:xfrm>
            <a:off x="12674121" y="7601789"/>
            <a:ext cx="1935123" cy="620316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Приоритизация трафика | Модели QoS | Quality of Service">
            <a:extLst>
              <a:ext uri="{FF2B5EF4-FFF2-40B4-BE49-F238E27FC236}">
                <a16:creationId xmlns:a16="http://schemas.microsoft.com/office/drawing/2014/main" id="{88BF5D7F-CCBD-4140-AFDE-020639217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803" y="480375"/>
            <a:ext cx="5486400" cy="35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Что такое TCP/IP и как работает этот протокол: уровни и функции">
            <a:extLst>
              <a:ext uri="{FF2B5EF4-FFF2-40B4-BE49-F238E27FC236}">
                <a16:creationId xmlns:a16="http://schemas.microsoft.com/office/drawing/2014/main" id="{02C8B7B4-7E31-440F-A58D-4EDB7F13F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2" y="4023644"/>
            <a:ext cx="5442795" cy="395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4" name="Text 1"/>
          <p:cNvSpPr/>
          <p:nvPr/>
        </p:nvSpPr>
        <p:spPr>
          <a:xfrm>
            <a:off x="6280190" y="120753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Два подхода к обеспечению QoS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2745343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Существуют две концептуальные модели: гарантированное обслуживание, где сеть обеспечивает конкретные числовые параметры, и </a:t>
            </a:r>
            <a:r>
              <a:rPr lang="en-US" sz="15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модель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best-effort, где приоритезация улучшает качество, но без жёстких гарантий. Выбор зависит от требований приложений и бюджета.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436752" y="4437102"/>
            <a:ext cx="342519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Гарантированное обслуживание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294491" y="5173566"/>
            <a:ext cx="34251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latin typeface="Nobile" pitchFamily="34" charset="0"/>
                <a:ea typeface="Nobile" pitchFamily="34" charset="-122"/>
                <a:cs typeface="Nobile" pitchFamily="34" charset="-120"/>
              </a:rPr>
              <a:t>Подходит для критичных приложений (VoIP, реальное время). Технологии: ATM, MPLS с резервированием полосы</a:t>
            </a: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61240" y="4574874"/>
            <a:ext cx="353615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Best Effort + Приоритезация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928923" y="5165836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Экономичный подход: DiffServ, очереди с разными приоритетами. Нет жёстких SLA, но реальная выгода при корректной настройке.</a:t>
            </a:r>
            <a:endParaRPr lang="en-US" sz="15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F446A1-692E-405B-B2D2-58607C4C1402}"/>
              </a:ext>
            </a:extLst>
          </p:cNvPr>
          <p:cNvSpPr/>
          <p:nvPr/>
        </p:nvSpPr>
        <p:spPr>
          <a:xfrm>
            <a:off x="12674121" y="7601789"/>
            <a:ext cx="1935123" cy="620316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 descr="Best-Effort Service - an overview | ScienceDirect Topics">
            <a:extLst>
              <a:ext uri="{FF2B5EF4-FFF2-40B4-BE49-F238E27FC236}">
                <a16:creationId xmlns:a16="http://schemas.microsoft.com/office/drawing/2014/main" id="{545C25BC-9BDE-487B-85EF-87AA963E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67239"/>
            <a:ext cx="5486400" cy="148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344C4C7-5635-4A70-B443-73B2549AA751}"/>
              </a:ext>
            </a:extLst>
          </p:cNvPr>
          <p:cNvSpPr/>
          <p:nvPr/>
        </p:nvSpPr>
        <p:spPr>
          <a:xfrm>
            <a:off x="1445191" y="195396"/>
            <a:ext cx="2729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</a:t>
            </a:r>
            <a:r>
              <a:rPr lang="en-US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одель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best-effort</a:t>
            </a:r>
            <a:endParaRPr lang="ru-RU" dirty="0"/>
          </a:p>
        </p:txBody>
      </p:sp>
      <p:pic>
        <p:nvPicPr>
          <p:cNvPr id="2052" name="Picture 4" descr="Differentiated Services (DiffServ) and Traffic Classification -  GeeksforGeeks">
            <a:extLst>
              <a:ext uri="{FF2B5EF4-FFF2-40B4-BE49-F238E27FC236}">
                <a16:creationId xmlns:a16="http://schemas.microsoft.com/office/drawing/2014/main" id="{089C7C7E-F10E-40CD-BA69-5AF23BFA9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48339"/>
            <a:ext cx="5384018" cy="299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F6FC029-96F5-4649-83BF-B91FDB06B657}"/>
              </a:ext>
            </a:extLst>
          </p:cNvPr>
          <p:cNvSpPr/>
          <p:nvPr/>
        </p:nvSpPr>
        <p:spPr>
          <a:xfrm>
            <a:off x="2210664" y="3407013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DiffServ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13E83E9E-BD2A-49B5-8BCE-A8F251C9F5F6}"/>
              </a:ext>
            </a:extLst>
          </p:cNvPr>
          <p:cNvSpPr/>
          <p:nvPr/>
        </p:nvSpPr>
        <p:spPr>
          <a:xfrm>
            <a:off x="0" y="-7495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B32C4D7-5B86-476B-8083-68215B976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94302"/>
              </p:ext>
            </p:extLst>
          </p:nvPr>
        </p:nvGraphicFramePr>
        <p:xfrm>
          <a:off x="6498236" y="2121108"/>
          <a:ext cx="7714050" cy="5057987"/>
        </p:xfrm>
        <a:graphic>
          <a:graphicData uri="http://schemas.openxmlformats.org/drawingml/2006/table">
            <a:tbl>
              <a:tblPr/>
              <a:tblGrid>
                <a:gridCol w="2571350">
                  <a:extLst>
                    <a:ext uri="{9D8B030D-6E8A-4147-A177-3AD203B41FA5}">
                      <a16:colId xmlns:a16="http://schemas.microsoft.com/office/drawing/2014/main" val="1894274918"/>
                    </a:ext>
                  </a:extLst>
                </a:gridCol>
                <a:gridCol w="2571350">
                  <a:extLst>
                    <a:ext uri="{9D8B030D-6E8A-4147-A177-3AD203B41FA5}">
                      <a16:colId xmlns:a16="http://schemas.microsoft.com/office/drawing/2014/main" val="222535149"/>
                    </a:ext>
                  </a:extLst>
                </a:gridCol>
                <a:gridCol w="2571350">
                  <a:extLst>
                    <a:ext uri="{9D8B030D-6E8A-4147-A177-3AD203B41FA5}">
                      <a16:colId xmlns:a16="http://schemas.microsoft.com/office/drawing/2014/main" val="2473664692"/>
                    </a:ext>
                  </a:extLst>
                </a:gridCol>
              </a:tblGrid>
              <a:tr h="595677"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Уровень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6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Назначение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60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Примеры протоколов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60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060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990704"/>
                  </a:ext>
                </a:extLst>
              </a:tr>
              <a:tr h="1042435"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</a:rPr>
                        <a:t>Прикладной</a:t>
                      </a:r>
                      <a:endParaRPr lang="ru-RU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6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6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6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Взаимодействие пользовательских приложений с сетью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HTTP, HTTPS, FTP, SMTP, DNS, DHCP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3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38121"/>
                  </a:ext>
                </a:extLst>
              </a:tr>
              <a:tr h="1042435"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</a:rPr>
                        <a:t>Транспортный</a:t>
                      </a:r>
                      <a:endParaRPr lang="ru-RU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6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6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67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Обеспечение надёжной или быстрой доставки данных между приложениями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6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TCP, UDP, SCTP, QUIC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0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1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251871"/>
                  </a:ext>
                </a:extLst>
              </a:tr>
              <a:tr h="1042435"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</a:rPr>
                        <a:t>Сетевой (Интернет)</a:t>
                      </a:r>
                      <a:endParaRPr lang="ru-RU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067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6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67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Адресация, маршрутизация и доставка пакетов между сетями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6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1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6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D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IPv4, IPv6, ICMP, IGMP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51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3051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24554"/>
                  </a:ext>
                </a:extLst>
              </a:tr>
              <a:tr h="1042435"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</a:rPr>
                        <a:t>Канальный + Физический</a:t>
                      </a:r>
                      <a:r>
                        <a:rPr lang="ru-RU" sz="1800">
                          <a:effectLst/>
                        </a:rPr>
                        <a:t> (</a:t>
                      </a:r>
                      <a:r>
                        <a:rPr lang="en-US" sz="1800">
                          <a:effectLst/>
                        </a:rPr>
                        <a:t>Network Access)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D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54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Передача кадров внутри одной физической сети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D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D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Ethernet, Wi-Fi (802.11), PPP, ARP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86450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AD88E6-B43D-4016-B9DE-0C799450C188}"/>
              </a:ext>
            </a:extLst>
          </p:cNvPr>
          <p:cNvSpPr/>
          <p:nvPr/>
        </p:nvSpPr>
        <p:spPr>
          <a:xfrm>
            <a:off x="2698227" y="872777"/>
            <a:ext cx="91065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Модель TCP/IP традиционно описывается </a:t>
            </a:r>
            <a:r>
              <a:rPr lang="ru-RU" sz="2400" b="1" i="0" dirty="0">
                <a:solidFill>
                  <a:srgbClr val="1D1D1F"/>
                </a:solidFill>
                <a:effectLst/>
                <a:latin typeface="system-ui"/>
              </a:rPr>
              <a:t>четырьмя уровнями</a:t>
            </a:r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, каждый из которых решает строго определённые задачи: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CC7F80-83A0-4196-8A3F-9C104E4438F2}"/>
              </a:ext>
            </a:extLst>
          </p:cNvPr>
          <p:cNvSpPr/>
          <p:nvPr/>
        </p:nvSpPr>
        <p:spPr>
          <a:xfrm>
            <a:off x="4087485" y="86999"/>
            <a:ext cx="57059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i="0" dirty="0">
                <a:solidFill>
                  <a:srgbClr val="1D1D1F"/>
                </a:solidFill>
                <a:effectLst/>
                <a:latin typeface="system-ui"/>
              </a:rPr>
              <a:t>Архитектура модели TCP/IP</a:t>
            </a:r>
            <a:endParaRPr lang="ru-RU" sz="36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AD7FC4-2814-40EC-B1B7-4D36473CB6DF}"/>
              </a:ext>
            </a:extLst>
          </p:cNvPr>
          <p:cNvSpPr/>
          <p:nvPr/>
        </p:nvSpPr>
        <p:spPr>
          <a:xfrm>
            <a:off x="12674121" y="7601789"/>
            <a:ext cx="1935123" cy="620316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218" name="Picture 2" descr="Что такое TCP/IP и как работает этот протокол: уровни и функции">
            <a:extLst>
              <a:ext uri="{FF2B5EF4-FFF2-40B4-BE49-F238E27FC236}">
                <a16:creationId xmlns:a16="http://schemas.microsoft.com/office/drawing/2014/main" id="{64319B1E-33BC-43B7-B6A0-56CF09023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23" y="1692942"/>
            <a:ext cx="4879300" cy="2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Что такое TCP/IP и как работает этот протокол: уровни и функции">
            <a:extLst>
              <a:ext uri="{FF2B5EF4-FFF2-40B4-BE49-F238E27FC236}">
                <a16:creationId xmlns:a16="http://schemas.microsoft.com/office/drawing/2014/main" id="{1B490F4C-C8FF-46C6-B899-32254E250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5" y="4023644"/>
            <a:ext cx="5442795" cy="395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94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3955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4" name="Text 1"/>
          <p:cNvSpPr/>
          <p:nvPr/>
        </p:nvSpPr>
        <p:spPr>
          <a:xfrm>
            <a:off x="744260" y="516850"/>
            <a:ext cx="7655481" cy="1744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 err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Структуризация</a:t>
            </a:r>
            <a:r>
              <a:rPr lang="en-US" sz="3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как средство построения больших сетей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4260" y="2522577"/>
            <a:ext cx="7655481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Структурирование сети — ключ к масштабируемости и управляемости. Разбиение на сегменты (VLAN, подсети), многоуровневая архитектура (ядро — агрегация — доступ) и чёткие границы безопасности позволяют ограничивать домены транзакций и локализовать сбои.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44260" y="3872270"/>
            <a:ext cx="37207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44260" y="4165521"/>
            <a:ext cx="3740468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8" name="Text 5"/>
          <p:cNvSpPr/>
          <p:nvPr/>
        </p:nvSpPr>
        <p:spPr>
          <a:xfrm>
            <a:off x="744260" y="4304228"/>
            <a:ext cx="2406134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Шаг 1: Сегментация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4260" y="4699516"/>
            <a:ext cx="3740468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Изоляция трафика по функциям и рискам (внутренний, гостевой, ИТ-инфраструктура).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659154" y="3872270"/>
            <a:ext cx="37207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659154" y="4165521"/>
            <a:ext cx="3740587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2" name="Text 9"/>
          <p:cNvSpPr/>
          <p:nvPr/>
        </p:nvSpPr>
        <p:spPr>
          <a:xfrm>
            <a:off x="4659154" y="4304228"/>
            <a:ext cx="3740587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Шаг 2: Многоуровневая архитектура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59154" y="4990148"/>
            <a:ext cx="3740587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Ядро для быстрого транзита, слой агрегации для политики, уровень доступа для конечных устройств.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44260" y="6169223"/>
            <a:ext cx="37207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44260" y="6462474"/>
            <a:ext cx="765548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6" name="Text 13"/>
          <p:cNvSpPr/>
          <p:nvPr/>
        </p:nvSpPr>
        <p:spPr>
          <a:xfrm>
            <a:off x="744260" y="6601182"/>
            <a:ext cx="28591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Шаг 3: Резервирование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4260" y="6996470"/>
            <a:ext cx="7655481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Избыточные пути и устройства для повышения доступности и устойчивости к отказам.</a:t>
            </a:r>
            <a:endParaRPr lang="en-US" sz="1450" dirty="0"/>
          </a:p>
        </p:txBody>
      </p:sp>
      <p:pic>
        <p:nvPicPr>
          <p:cNvPr id="3074" name="Picture 2" descr="Сегментация сети для самых маленьких: рабочие станции / Хабр">
            <a:extLst>
              <a:ext uri="{FF2B5EF4-FFF2-40B4-BE49-F238E27FC236}">
                <a16:creationId xmlns:a16="http://schemas.microsoft.com/office/drawing/2014/main" id="{19B77600-8871-414B-B698-380370761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397242"/>
            <a:ext cx="5486400" cy="445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7E3037F-9539-4094-8369-75D3BC641C8E}"/>
              </a:ext>
            </a:extLst>
          </p:cNvPr>
          <p:cNvSpPr/>
          <p:nvPr/>
        </p:nvSpPr>
        <p:spPr>
          <a:xfrm>
            <a:off x="11301855" y="13955"/>
            <a:ext cx="1635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Сегментация</a:t>
            </a:r>
            <a:endParaRPr lang="ru-RU" dirty="0"/>
          </a:p>
        </p:txBody>
      </p:sp>
      <p:pic>
        <p:nvPicPr>
          <p:cNvPr id="3078" name="Picture 6" descr="Кратко о типах архитектур программного обеспечения, и какую из них выбрали  мы для IaaS-провайдера / Хабр">
            <a:extLst>
              <a:ext uri="{FF2B5EF4-FFF2-40B4-BE49-F238E27FC236}">
                <a16:creationId xmlns:a16="http://schemas.microsoft.com/office/drawing/2014/main" id="{4AA9F210-B1F9-445F-B955-2D0C7CC23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4899" y="5748653"/>
            <a:ext cx="1491155" cy="213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4DFB756-2318-4B96-AB74-20EB3F3038D3}"/>
              </a:ext>
            </a:extLst>
          </p:cNvPr>
          <p:cNvSpPr/>
          <p:nvPr/>
        </p:nvSpPr>
        <p:spPr>
          <a:xfrm>
            <a:off x="9434870" y="4990148"/>
            <a:ext cx="2107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Многоуровневая</a:t>
            </a: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b="1" dirty="0" err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архитектура</a:t>
            </a:r>
            <a:endParaRPr lang="ru-RU" dirty="0"/>
          </a:p>
        </p:txBody>
      </p:sp>
      <p:pic>
        <p:nvPicPr>
          <p:cNvPr id="3080" name="Picture 8" descr="Что такое резервирование сети? Ключевые стратегии для промышленных  коммутаторов">
            <a:extLst>
              <a:ext uri="{FF2B5EF4-FFF2-40B4-BE49-F238E27FC236}">
                <a16:creationId xmlns:a16="http://schemas.microsoft.com/office/drawing/2014/main" id="{9FFB7203-CDE0-43BA-A7F1-7223E073B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3553" y="5748653"/>
            <a:ext cx="2803497" cy="188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1F64835-F444-4C1D-A875-FEF06DE19BEC}"/>
              </a:ext>
            </a:extLst>
          </p:cNvPr>
          <p:cNvSpPr/>
          <p:nvPr/>
        </p:nvSpPr>
        <p:spPr>
          <a:xfrm>
            <a:off x="12119547" y="5195292"/>
            <a:ext cx="2017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Резервирование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4" name="Text 1"/>
          <p:cNvSpPr/>
          <p:nvPr/>
        </p:nvSpPr>
        <p:spPr>
          <a:xfrm>
            <a:off x="781407" y="551617"/>
            <a:ext cx="7581186" cy="122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81407" y="2024836"/>
            <a:ext cx="7581186" cy="155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0BFE57-EB64-43DF-A744-97BA62EA76C1}"/>
              </a:ext>
            </a:extLst>
          </p:cNvPr>
          <p:cNvSpPr txBox="1"/>
          <p:nvPr/>
        </p:nvSpPr>
        <p:spPr>
          <a:xfrm>
            <a:off x="79632" y="2345300"/>
            <a:ext cx="1081353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cs typeface="Aharoni" panose="02010803020104030203" pitchFamily="2" charset="-79"/>
              </a:rPr>
              <a:t>ARP/NDP</a:t>
            </a:r>
            <a:r>
              <a:rPr lang="ru-RU" dirty="0">
                <a:cs typeface="Aharoni" panose="02010803020104030203" pitchFamily="2" charset="-79"/>
              </a:rPr>
              <a:t> – протоколы сопоставления IP- и MAC-адресов (ARP для IPv4, NDP для IPv6).</a:t>
            </a:r>
            <a:br>
              <a:rPr lang="en-US" dirty="0">
                <a:cs typeface="Aharoni" panose="02010803020104030203" pitchFamily="2" charset="-79"/>
              </a:rPr>
            </a:br>
            <a:endParaRPr lang="ru-RU" dirty="0">
              <a:cs typeface="Aharoni" panose="02010803020104030203" pitchFamily="2" charset="-79"/>
            </a:endParaRPr>
          </a:p>
          <a:p>
            <a:r>
              <a:rPr lang="ru-RU" b="1" dirty="0">
                <a:cs typeface="Aharoni" panose="02010803020104030203" pitchFamily="2" charset="-79"/>
              </a:rPr>
              <a:t>ICMP (</a:t>
            </a:r>
            <a:r>
              <a:rPr lang="ru-RU" b="1" dirty="0" err="1">
                <a:cs typeface="Aharoni" panose="02010803020104030203" pitchFamily="2" charset="-79"/>
              </a:rPr>
              <a:t>Internet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b="1" dirty="0" err="1">
                <a:cs typeface="Aharoni" panose="02010803020104030203" pitchFamily="2" charset="-79"/>
              </a:rPr>
              <a:t>Control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b="1" dirty="0" err="1">
                <a:cs typeface="Aharoni" panose="02010803020104030203" pitchFamily="2" charset="-79"/>
              </a:rPr>
              <a:t>Message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b="1" dirty="0" err="1">
                <a:cs typeface="Aharoni" panose="02010803020104030203" pitchFamily="2" charset="-79"/>
              </a:rPr>
              <a:t>Protocol</a:t>
            </a:r>
            <a:r>
              <a:rPr lang="ru-RU" b="1" dirty="0">
                <a:cs typeface="Aharoni" panose="02010803020104030203" pitchFamily="2" charset="-79"/>
              </a:rPr>
              <a:t>)</a:t>
            </a:r>
            <a:r>
              <a:rPr lang="ru-RU" dirty="0">
                <a:cs typeface="Aharoni" panose="02010803020104030203" pitchFamily="2" charset="-79"/>
              </a:rPr>
              <a:t> – служебный протокол для диагностики и отчётов об ошибках</a:t>
            </a:r>
            <a:br>
              <a:rPr lang="en-US" dirty="0">
                <a:cs typeface="Aharoni" panose="02010803020104030203" pitchFamily="2" charset="-79"/>
              </a:rPr>
            </a:b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en-US" b="1" dirty="0">
                <a:cs typeface="Aharoni" panose="02010803020104030203" pitchFamily="2" charset="-79"/>
              </a:rPr>
              <a:t>UDP </a:t>
            </a:r>
            <a:r>
              <a:rPr lang="ru-RU" b="1" dirty="0">
                <a:cs typeface="Aharoni" panose="02010803020104030203" pitchFamily="2" charset="-79"/>
              </a:rPr>
              <a:t>(</a:t>
            </a:r>
            <a:r>
              <a:rPr lang="ru-RU" b="1" dirty="0" err="1">
                <a:cs typeface="Aharoni" panose="02010803020104030203" pitchFamily="2" charset="-79"/>
              </a:rPr>
              <a:t>User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b="1" dirty="0" err="1">
                <a:cs typeface="Aharoni" panose="02010803020104030203" pitchFamily="2" charset="-79"/>
              </a:rPr>
              <a:t>Datagram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b="1" dirty="0" err="1">
                <a:cs typeface="Aharoni" panose="02010803020104030203" pitchFamily="2" charset="-79"/>
              </a:rPr>
              <a:t>Protocol</a:t>
            </a:r>
            <a:r>
              <a:rPr lang="ru-RU" b="1" dirty="0">
                <a:cs typeface="Aharoni" panose="02010803020104030203" pitchFamily="2" charset="-79"/>
              </a:rPr>
              <a:t>)</a:t>
            </a:r>
            <a:r>
              <a:rPr lang="ru-RU" dirty="0">
                <a:cs typeface="Aharoni" panose="02010803020104030203" pitchFamily="2" charset="-79"/>
              </a:rPr>
              <a:t> – </a:t>
            </a:r>
            <a:r>
              <a:rPr lang="ru-RU" dirty="0" err="1">
                <a:cs typeface="Aharoni" panose="02010803020104030203" pitchFamily="2" charset="-79"/>
              </a:rPr>
              <a:t>безсоединительный</a:t>
            </a:r>
            <a:r>
              <a:rPr lang="ru-RU" dirty="0">
                <a:cs typeface="Aharoni" panose="02010803020104030203" pitchFamily="2" charset="-79"/>
              </a:rPr>
              <a:t> протокол. </a:t>
            </a: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ru-RU" dirty="0">
                <a:cs typeface="Aharoni" panose="02010803020104030203" pitchFamily="2" charset="-79"/>
              </a:rPr>
              <a:t>Минимальные задержки и накладные расходы, но без гарантий доставки. </a:t>
            </a: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ru-RU" dirty="0">
                <a:cs typeface="Aharoni" panose="02010803020104030203" pitchFamily="2" charset="-79"/>
              </a:rPr>
              <a:t>Применяется в </a:t>
            </a:r>
            <a:r>
              <a:rPr lang="ru-RU" dirty="0" err="1">
                <a:cs typeface="Aharoni" panose="02010803020104030203" pitchFamily="2" charset="-79"/>
              </a:rPr>
              <a:t>VoIP</a:t>
            </a:r>
            <a:r>
              <a:rPr lang="ru-RU" dirty="0">
                <a:cs typeface="Aharoni" panose="02010803020104030203" pitchFamily="2" charset="-79"/>
              </a:rPr>
              <a:t>, онлайн-играх, стриминге, DNS.</a:t>
            </a:r>
            <a:br>
              <a:rPr lang="en-US" dirty="0">
                <a:cs typeface="Aharoni" panose="02010803020104030203" pitchFamily="2" charset="-79"/>
              </a:rPr>
            </a:br>
            <a:endParaRPr lang="ru-RU" dirty="0">
              <a:cs typeface="Aharoni" panose="02010803020104030203" pitchFamily="2" charset="-79"/>
            </a:endParaRPr>
          </a:p>
          <a:p>
            <a:r>
              <a:rPr lang="ru-RU" b="1" dirty="0">
                <a:cs typeface="Aharoni" panose="02010803020104030203" pitchFamily="2" charset="-79"/>
              </a:rPr>
              <a:t>TCP (</a:t>
            </a:r>
            <a:r>
              <a:rPr lang="ru-RU" b="1" dirty="0" err="1">
                <a:cs typeface="Aharoni" panose="02010803020104030203" pitchFamily="2" charset="-79"/>
              </a:rPr>
              <a:t>Transmission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b="1" dirty="0" err="1">
                <a:cs typeface="Aharoni" panose="02010803020104030203" pitchFamily="2" charset="-79"/>
              </a:rPr>
              <a:t>Control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b="1" dirty="0" err="1">
                <a:cs typeface="Aharoni" panose="02010803020104030203" pitchFamily="2" charset="-79"/>
              </a:rPr>
              <a:t>Protocol</a:t>
            </a:r>
            <a:r>
              <a:rPr lang="ru-RU" b="1" dirty="0">
                <a:cs typeface="Aharoni" panose="02010803020104030203" pitchFamily="2" charset="-79"/>
              </a:rPr>
              <a:t>)</a:t>
            </a:r>
            <a:r>
              <a:rPr lang="ru-RU" dirty="0">
                <a:cs typeface="Aharoni" panose="02010803020104030203" pitchFamily="2" charset="-79"/>
              </a:rPr>
              <a:t> – ориентирован на соединение. </a:t>
            </a: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ru-RU" dirty="0">
                <a:cs typeface="Aharoni" panose="02010803020104030203" pitchFamily="2" charset="-79"/>
              </a:rPr>
              <a:t>Обеспечивает надёжную доставку, контроль потока, </a:t>
            </a:r>
            <a:br>
              <a:rPr lang="en-US" dirty="0">
                <a:cs typeface="Aharoni" panose="02010803020104030203" pitchFamily="2" charset="-79"/>
              </a:rPr>
            </a:br>
            <a:r>
              <a:rPr lang="ru-RU" dirty="0">
                <a:cs typeface="Aharoni" panose="02010803020104030203" pitchFamily="2" charset="-79"/>
              </a:rPr>
              <a:t>повторную передачу потерянных сегментов и упорядочивание данных. </a:t>
            </a: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ru-RU" dirty="0">
                <a:cs typeface="Aharoni" panose="02010803020104030203" pitchFamily="2" charset="-79"/>
              </a:rPr>
              <a:t>Использует механизм «трёхэтапного рукопожатия» (SYN → SYN-ACK → ACK).</a:t>
            </a:r>
          </a:p>
          <a:p>
            <a:br>
              <a:rPr lang="en-US" dirty="0"/>
            </a:br>
            <a:r>
              <a:rPr lang="ru-RU" b="1" dirty="0"/>
              <a:t>IP (</a:t>
            </a:r>
            <a:r>
              <a:rPr lang="ru-RU" b="1" dirty="0" err="1"/>
              <a:t>Internet</a:t>
            </a:r>
            <a:r>
              <a:rPr lang="ru-RU" b="1" dirty="0"/>
              <a:t> </a:t>
            </a:r>
            <a:r>
              <a:rPr lang="ru-RU" b="1" dirty="0" err="1"/>
              <a:t>Protocol</a:t>
            </a:r>
            <a:r>
              <a:rPr lang="ru-RU" b="1" dirty="0"/>
              <a:t>)</a:t>
            </a:r>
            <a:r>
              <a:rPr lang="ru-RU" dirty="0"/>
              <a:t> – отвечает за логическую адресацию (IP-адреса) и маршрутизацию пакетов. </a:t>
            </a:r>
            <a:br>
              <a:rPr lang="en-US" dirty="0"/>
            </a:br>
            <a:r>
              <a:rPr lang="ru-RU" dirty="0"/>
              <a:t>Не гарантирует доставку, порядок или целостность (</a:t>
            </a:r>
            <a:r>
              <a:rPr lang="ru-RU" dirty="0" err="1"/>
              <a:t>best-effort</a:t>
            </a:r>
            <a:r>
              <a:rPr lang="ru-RU" dirty="0"/>
              <a:t> </a:t>
            </a:r>
            <a:r>
              <a:rPr lang="ru-RU" dirty="0" err="1"/>
              <a:t>delivery</a:t>
            </a:r>
            <a:r>
              <a:rPr lang="ru-RU" dirty="0"/>
              <a:t>). Работает с IPv4 (32-битные адреса) </a:t>
            </a:r>
            <a:br>
              <a:rPr lang="en-US" dirty="0"/>
            </a:br>
            <a:r>
              <a:rPr lang="ru-RU" dirty="0"/>
              <a:t>и IPv6 (128-битные).</a:t>
            </a:r>
          </a:p>
          <a:p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331BCF7-68F5-47E6-A0FD-733CB34917E2}"/>
              </a:ext>
            </a:extLst>
          </p:cNvPr>
          <p:cNvSpPr/>
          <p:nvPr/>
        </p:nvSpPr>
        <p:spPr>
          <a:xfrm>
            <a:off x="905114" y="673870"/>
            <a:ext cx="58320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i="0" dirty="0">
                <a:solidFill>
                  <a:srgbClr val="1D1D1F"/>
                </a:solidFill>
                <a:effectLst/>
                <a:latin typeface="Franklin Gothic Medium" panose="020B0603020102020204" pitchFamily="34" charset="0"/>
              </a:rPr>
              <a:t>Ключевые протоколы стека</a:t>
            </a:r>
          </a:p>
        </p:txBody>
      </p:sp>
      <p:pic>
        <p:nvPicPr>
          <p:cNvPr id="8196" name="Picture 4" descr="What is the ARP Protocol? Introduction to ARP Spoofing (Security Risk)|  Four-Faith">
            <a:extLst>
              <a:ext uri="{FF2B5EF4-FFF2-40B4-BE49-F238E27FC236}">
                <a16:creationId xmlns:a16="http://schemas.microsoft.com/office/drawing/2014/main" id="{7881B9F5-8413-414B-9BB7-277F8FEBA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5793" y="21626"/>
            <a:ext cx="3620392" cy="228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F1917D5-D308-42AE-8BF0-F667CF263392}"/>
              </a:ext>
            </a:extLst>
          </p:cNvPr>
          <p:cNvSpPr/>
          <p:nvPr/>
        </p:nvSpPr>
        <p:spPr>
          <a:xfrm>
            <a:off x="12400362" y="-6292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cs typeface="Aharoni" panose="02010803020104030203" pitchFamily="2" charset="-79"/>
              </a:rPr>
              <a:t> </a:t>
            </a:r>
            <a:endParaRPr lang="ru-RU" dirty="0"/>
          </a:p>
        </p:txBody>
      </p:sp>
      <p:pic>
        <p:nvPicPr>
          <p:cNvPr id="8198" name="Picture 6" descr="What is ICMP: Definition, Function, and How It Works">
            <a:extLst>
              <a:ext uri="{FF2B5EF4-FFF2-40B4-BE49-F238E27FC236}">
                <a16:creationId xmlns:a16="http://schemas.microsoft.com/office/drawing/2014/main" id="{B39ED72F-33FA-48DA-9A6D-69D0DB9AA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8495" y="3045542"/>
            <a:ext cx="2561756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TCP и UDP: в чём отличия | Cloud4Y">
            <a:extLst>
              <a:ext uri="{FF2B5EF4-FFF2-40B4-BE49-F238E27FC236}">
                <a16:creationId xmlns:a16="http://schemas.microsoft.com/office/drawing/2014/main" id="{BFB5E8D3-0E01-466E-9B36-C889E2B5B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5793" y="5830817"/>
            <a:ext cx="3826708" cy="229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What is an IP Address? How it works? How to Locate it? | Fortinet">
            <a:extLst>
              <a:ext uri="{FF2B5EF4-FFF2-40B4-BE49-F238E27FC236}">
                <a16:creationId xmlns:a16="http://schemas.microsoft.com/office/drawing/2014/main" id="{E2E68F14-E98B-475D-8025-E6D7D165B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226" y="3346198"/>
            <a:ext cx="3371606" cy="220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94" y="3300089"/>
            <a:ext cx="3691471" cy="4922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54245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Проблемы типовых топологий в больших сетях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3080266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Простые топологии, удобные для маленьких сетей, становятся узкими местами при росте: ограничения длины кабеля, число доступных адресов, домены широковещательной рассылки и пропускная способность каналов. Эти ограничения вызывают деградацию производительности и сложности в управлении.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891207"/>
            <a:ext cx="7556421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Ограничения длины связи (пример: коаксиальный Ethernet до ~185 м)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Ограничение количества узлов в сегменте — рост коллизий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Проблемы при высокой интенсивности трафика: широковещание, перегрузки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Необходимость модернизации топологии при масштабировании</a:t>
            </a:r>
            <a:endParaRPr lang="en-US" sz="15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65A992-5F92-48FC-9FA4-5FB43AF5FA54}"/>
              </a:ext>
            </a:extLst>
          </p:cNvPr>
          <p:cNvSpPr/>
          <p:nvPr/>
        </p:nvSpPr>
        <p:spPr>
          <a:xfrm>
            <a:off x="12674121" y="7601789"/>
            <a:ext cx="1935123" cy="620316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146" name="Picture 2" descr="Ethernet — Википедия">
            <a:extLst>
              <a:ext uri="{FF2B5EF4-FFF2-40B4-BE49-F238E27FC236}">
                <a16:creationId xmlns:a16="http://schemas.microsoft.com/office/drawing/2014/main" id="{D80CE487-AEB3-4FD3-944D-3F4D43657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88" y="558101"/>
            <a:ext cx="3865601" cy="299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BD1FDE8-EFC3-481A-A8A9-1BCFDE231AED}"/>
              </a:ext>
            </a:extLst>
          </p:cNvPr>
          <p:cNvSpPr/>
          <p:nvPr/>
        </p:nvSpPr>
        <p:spPr>
          <a:xfrm>
            <a:off x="1416876" y="94385"/>
            <a:ext cx="22407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Ethernet </a:t>
            </a:r>
            <a:r>
              <a:rPr lang="en-US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до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~185 м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9757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Коммуникационное оборудование для структурирования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4674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Microsoft JhengHei UI Light" panose="020B0304030504040204" pitchFamily="34" charset="-120"/>
                <a:cs typeface="Nobile" pitchFamily="34" charset="-120"/>
              </a:rPr>
              <a:t>Правильный выбор устройств формирует структуру сети и влияет на производительность и безопасность. Рассмотрим роль каждого типа и где он уместен.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5068"/>
            <a:ext cx="891540" cy="11144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33337" y="3405068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Повторители (Repeaters)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933337" y="4144447"/>
            <a:ext cx="1935123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Восстанавливают слабый сигнал для увеличения физической длины сети. Просты, не анализируют пакеты — работают на физическом уровне.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467" y="3405068"/>
            <a:ext cx="891540" cy="11144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6014" y="3405068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Концентраторы (Hubs)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56014" y="4144447"/>
            <a:ext cx="1935123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Повторяют сигнал на все порты — простое расширение физической топологии, но увеличивают домен коллизий и не обеспечивают фильтрацию.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144" y="3405068"/>
            <a:ext cx="891540" cy="11144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78691" y="3405068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Коммутаторы (Switches)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8578691" y="4144447"/>
            <a:ext cx="1935123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Работают на канальном уровне, обеспечивают коммутацию по MAC-адресам, уменьшают коллизии и улучшают производительность сегментов.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1821" y="3405068"/>
            <a:ext cx="891659" cy="11145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01488" y="3405068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Маршрутизаторы (Routers)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1901488" y="4144447"/>
            <a:ext cx="1935123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Маршрутизируют пакеты между подсетями, реализуют политики маршрутизации, NAT, VPN и контроль доступа между доменами.</a:t>
            </a:r>
            <a:endParaRPr lang="en-US" sz="15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081D8A0-FC8A-4E1C-AA3D-A098F5AEAB09}"/>
              </a:ext>
            </a:extLst>
          </p:cNvPr>
          <p:cNvSpPr/>
          <p:nvPr/>
        </p:nvSpPr>
        <p:spPr>
          <a:xfrm>
            <a:off x="12674121" y="7601789"/>
            <a:ext cx="1935123" cy="620316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987" y="0"/>
            <a:ext cx="3232425" cy="43099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33" y="441365"/>
            <a:ext cx="8050173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Схема: концентратор и распространение сигнала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33" y="945237"/>
            <a:ext cx="8151733" cy="48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На схеме показан концентратор в центре, к которому подключено несколько компьютеров: при приёме кадра концентратор ретранслирует его на все порты, что делает трафик доступным всем узлам в сегменте. Это упрощает подключение, но снижает приватность и масштабируемость.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16" y="1516023"/>
            <a:ext cx="7598569" cy="58626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99661" y="3966532"/>
            <a:ext cx="1325256" cy="90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Hub Broadcast Behavior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203368" y="5822598"/>
            <a:ext cx="1971554" cy="60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Frame retransmitted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203368" y="6514856"/>
            <a:ext cx="1971554" cy="39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Hub forwards to all ports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87533" y="4034715"/>
            <a:ext cx="2014652" cy="303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 filtering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87533" y="4423941"/>
            <a:ext cx="2014652" cy="39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Traffic is visible to every node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917164" y="5974113"/>
            <a:ext cx="1971554" cy="303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All PCs receive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917164" y="6363340"/>
            <a:ext cx="1971554" cy="39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computer gets the same signal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022226" y="4023940"/>
            <a:ext cx="2014652" cy="303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Frame received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022226" y="4413166"/>
            <a:ext cx="2014652" cy="39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Hub accepts the frame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11781" y="2102217"/>
            <a:ext cx="2025427" cy="303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Incoming frame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3511781" y="2491444"/>
            <a:ext cx="2025427" cy="196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Frame arrives at hub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96133" y="7465814"/>
            <a:ext cx="8151733" cy="322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</p:txBody>
      </p:sp>
      <p:pic>
        <p:nvPicPr>
          <p:cNvPr id="4100" name="Picture 4" descr="Компьютерные сети Том 1-Глава 6">
            <a:extLst>
              <a:ext uri="{FF2B5EF4-FFF2-40B4-BE49-F238E27FC236}">
                <a16:creationId xmlns:a16="http://schemas.microsoft.com/office/drawing/2014/main" id="{75541971-8EC2-420D-ACB9-8404E8E1E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897" y="4111090"/>
            <a:ext cx="43434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1097</Words>
  <Application>Microsoft Office PowerPoint</Application>
  <PresentationFormat>Произвольный</PresentationFormat>
  <Paragraphs>112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Nobile</vt:lpstr>
      <vt:lpstr>Franklin Gothic Medium</vt:lpstr>
      <vt:lpstr>Calibri</vt:lpstr>
      <vt:lpstr>system-ui</vt:lpstr>
      <vt:lpstr>Fraunces Light</vt:lpstr>
      <vt:lpstr>Fraunces Extra Bold</vt:lpstr>
      <vt:lpstr>Arial</vt:lpstr>
      <vt:lpstr>Aharoni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AsDkIr</dc:creator>
  <cp:lastModifiedBy>Никита Бакшилов</cp:lastModifiedBy>
  <cp:revision>3</cp:revision>
  <dcterms:created xsi:type="dcterms:W3CDTF">2026-04-30T06:44:30Z</dcterms:created>
  <dcterms:modified xsi:type="dcterms:W3CDTF">2026-04-30T11:05:55Z</dcterms:modified>
</cp:coreProperties>
</file>
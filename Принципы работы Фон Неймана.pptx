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310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37CFE7-B8E5-4488-9FA6-2B201300F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14DCA-A476-4878-B268-84E33D43E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5F9869-2219-4558-9222-9EEF1418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12889A-A1C4-467B-BC2E-39748C2C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D370BD-2F92-4BB9-AD7B-07458AAD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416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12FBF-F434-4088-9904-6E4D7ADB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29F921-9D30-4526-8C4B-D4CD0A65C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01E20D-9498-4A1C-8797-449A4F5E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63739B-9753-42BA-8D7E-B784ADA34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D39936-582F-4E21-8CB9-37094B30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765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CDE73-F196-4E34-AAA1-B3540274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77A37B-F9FF-48DB-8A7F-284839EE2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C84561-9E2B-4AA3-8E2A-880ADC27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3D2D9F-0D6C-4AF7-94BC-5D1BE53E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60155B-F61A-4D49-8F71-442C4B9B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00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50D5A-2A4A-49B5-889F-41DA3641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6A11AE-47EF-4DAD-BEC6-BF66C2856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7AE27F-313F-45E5-974D-BECB79849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9A2DA2-145C-4C1A-BA31-DC9C35AC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87CA7F-C68F-4E82-B28B-B8DB974C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C85E4E-9C6E-4319-ACB1-90966BCD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487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E7FD5-71AA-49CA-9816-38465A9B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836A7C-0110-4476-B4FF-68B6A1CCE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85641A-30BC-4952-AC78-0D5918608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4BC5AC-6893-4AD4-A3D0-D1BB0D34B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B571C4-01DD-4525-A01F-4FDF58704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F3B0DE-A833-47CC-9FEE-9F5DA2D51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7FC0F0-24B6-4E12-AA70-E634C4C6B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D4C1386-40A8-48C7-A7C0-94A8E733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98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AFEE6-F0F4-47D8-B959-0A904203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F6FBC3-6E57-4BAF-A994-FC2C386A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284F2B-AE8D-4BE7-9272-257D0091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48835BC-F81D-40FD-8869-AD573861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61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43FCA4-3B8C-429A-B5C4-81A736C4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9EBC288-A4B4-49C3-8D3D-FAA299AE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3828D5-5A10-4491-9509-C011AC43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0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10A27-8AE9-4719-9D3C-63C23D03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26CED0-7F12-4672-922E-598FAD87F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136ABA-85E9-4115-9480-789B51A70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ACF74A-8A18-4EB7-B178-18FAD269C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AB4935-2697-4368-919C-AA72E2A1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364CFB-8495-4B1A-A443-45511301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31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5DC1B-66A2-45C9-A0F5-5F04D57A7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79F17B-AB48-4D57-9FC8-DF15EEF8A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BFEE65-CEC6-4DF7-9874-7186CEE01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0922C7-209F-4399-8DFF-33B79CAC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15E5D9-7E28-4837-B354-37F7BA6FE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0FFBEF-1CA3-4073-AC1F-DE3C43AD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39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B5F93-5763-4815-B663-96BB9774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0D042F-542F-4B89-906D-CA4C2AD22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D0B9B4-A3BD-42A0-BEBF-9B40E9F4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1852C1-DAD6-408C-9A1D-3C0F5AEFD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036A5E-FB91-4CC3-95B6-AD76A6A8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4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DA9FE0C-D35C-48C4-BA4E-F0A92CC3B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715933-B686-4E2A-885F-40CFDB8B7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A68489-E5EE-482E-865E-2261C39E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85E1BE-5967-44F5-B786-34AACFE8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4B423E-5A37-425B-A007-BE76EB8C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940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CB973-9CCA-4C26-AF70-971C27C91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CB307B-D4E5-44BF-B905-42CC80883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D5CBDC-1F96-4BDE-9113-AD365B80E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AB5A1-F280-4C30-BB9C-0F7A2F966777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6EA882-56B1-4927-8B2F-778B7054F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7B436F-3CF3-4058-B715-A2F372E25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38766-F7D6-4861-9581-105BBF941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9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7D0F72E-14EB-4771-B563-B12574405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2192000" cy="67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2F8739-D6CA-4672-A751-63112EB9C6A1}"/>
              </a:ext>
            </a:extLst>
          </p:cNvPr>
          <p:cNvSpPr txBox="1"/>
          <p:nvPr/>
        </p:nvSpPr>
        <p:spPr>
          <a:xfrm>
            <a:off x="1873623" y="555812"/>
            <a:ext cx="90676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Принципы архитектура фон Неймана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F70DE6B-014E-4E53-98FE-8D8831BAE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648" y="2608729"/>
            <a:ext cx="4168588" cy="320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57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7C62F3A2-562F-4AA2-86E4-4AF8958CF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2192000" cy="67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18576C0-5132-4C25-9F6A-4B7CC64427E2}"/>
              </a:ext>
            </a:extLst>
          </p:cNvPr>
          <p:cNvSpPr/>
          <p:nvPr/>
        </p:nvSpPr>
        <p:spPr>
          <a:xfrm>
            <a:off x="610155" y="214264"/>
            <a:ext cx="65910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Архитектура фон Неймана </a:t>
            </a:r>
            <a:endParaRPr lang="ru-RU" sz="4400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E6FF654-54CB-44D9-AD9E-B76A3FA2C11D}"/>
              </a:ext>
            </a:extLst>
          </p:cNvPr>
          <p:cNvSpPr/>
          <p:nvPr/>
        </p:nvSpPr>
        <p:spPr>
          <a:xfrm>
            <a:off x="466720" y="1537703"/>
            <a:ext cx="6239209" cy="264400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BCDF76D-2354-4F31-9533-7ADD1C401430}"/>
              </a:ext>
            </a:extLst>
          </p:cNvPr>
          <p:cNvSpPr/>
          <p:nvPr/>
        </p:nvSpPr>
        <p:spPr>
          <a:xfrm>
            <a:off x="681647" y="170554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Предложенная Джоном фон Нейманом в </a:t>
            </a:r>
            <a:r>
              <a:rPr lang="ru-RU" sz="3600" dirty="0">
                <a:latin typeface="Bahnschrift SemiBold Condensed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1945</a:t>
            </a:r>
            <a:r>
              <a:rPr lang="ru-RU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году в знаменитом отчете </a:t>
            </a:r>
            <a:br>
              <a:rPr lang="ru-RU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ru-RU" sz="3600" dirty="0" err="1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First</a:t>
            </a:r>
            <a:r>
              <a:rPr lang="ru-RU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Draft</a:t>
            </a:r>
            <a:r>
              <a:rPr lang="ru-RU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ru-RU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ru-RU" sz="3600" dirty="0" err="1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ru-RU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ru-RU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ru-RU" sz="3600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 EDVAC</a:t>
            </a:r>
            <a:r>
              <a:rPr lang="en-US" sz="36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ru-RU" sz="3600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31D0C757-4D0E-4CF6-A24A-F229A0DE1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976" y="760649"/>
            <a:ext cx="3688869" cy="491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6FA67196-77A8-44FD-9908-F254A82FD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0" y="4502225"/>
            <a:ext cx="3119492" cy="207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4FD61E5E-BA74-4E8D-96F0-9C6DEFAA3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566" y="4502225"/>
            <a:ext cx="3259410" cy="207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509D921-C0EA-4AE0-94A1-217993D7E83C}"/>
              </a:ext>
            </a:extLst>
          </p:cNvPr>
          <p:cNvCxnSpPr/>
          <p:nvPr/>
        </p:nvCxnSpPr>
        <p:spPr>
          <a:xfrm>
            <a:off x="3478306" y="5585012"/>
            <a:ext cx="102197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89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85E3BCAB-3458-4BC0-84C3-1963D8FE5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2192000" cy="67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A1BE3F-0CC4-4D0C-877C-0C75FFC07807}"/>
              </a:ext>
            </a:extLst>
          </p:cNvPr>
          <p:cNvSpPr/>
          <p:nvPr/>
        </p:nvSpPr>
        <p:spPr>
          <a:xfrm>
            <a:off x="1297214" y="122745"/>
            <a:ext cx="10623549" cy="716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Основные принципы архитектуры фон Неймана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0E3A39B-D0CF-48DE-A8DB-652252BA7B47}"/>
              </a:ext>
            </a:extLst>
          </p:cNvPr>
          <p:cNvSpPr/>
          <p:nvPr/>
        </p:nvSpPr>
        <p:spPr>
          <a:xfrm>
            <a:off x="693559" y="1550005"/>
            <a:ext cx="64700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Принцип хранимой программы </a:t>
            </a:r>
            <a:endParaRPr lang="ru-RU" sz="3600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19098F0-1D05-4711-B120-42ADA56953E5}"/>
              </a:ext>
            </a:extLst>
          </p:cNvPr>
          <p:cNvSpPr/>
          <p:nvPr/>
        </p:nvSpPr>
        <p:spPr>
          <a:xfrm>
            <a:off x="693559" y="2337414"/>
            <a:ext cx="65163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Принцип программного управления</a:t>
            </a:r>
            <a:endParaRPr lang="ru-RU" sz="3200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23E3D85-B60A-4113-8AFA-3265A4769203}"/>
              </a:ext>
            </a:extLst>
          </p:cNvPr>
          <p:cNvSpPr/>
          <p:nvPr/>
        </p:nvSpPr>
        <p:spPr>
          <a:xfrm>
            <a:off x="721481" y="2935045"/>
            <a:ext cx="49600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Принцип адресности памяти</a:t>
            </a:r>
            <a:endParaRPr lang="ru-RU" sz="3600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0D0C46-F744-4D27-A245-F88F6314E94F}"/>
              </a:ext>
            </a:extLst>
          </p:cNvPr>
          <p:cNvSpPr/>
          <p:nvPr/>
        </p:nvSpPr>
        <p:spPr>
          <a:xfrm>
            <a:off x="541023" y="4122603"/>
            <a:ext cx="7149971" cy="716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40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Принцип однородности памяти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EC7648-5056-4234-9D5D-84370E668B38}"/>
              </a:ext>
            </a:extLst>
          </p:cNvPr>
          <p:cNvSpPr/>
          <p:nvPr/>
        </p:nvSpPr>
        <p:spPr>
          <a:xfrm>
            <a:off x="666551" y="4955465"/>
            <a:ext cx="91140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Использование двоичной системы счисления</a:t>
            </a:r>
            <a:endParaRPr lang="ru-RU" sz="3600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40B94629-1546-4616-AAED-EA8273EB6BDF}"/>
              </a:ext>
            </a:extLst>
          </p:cNvPr>
          <p:cNvCxnSpPr>
            <a:stCxn id="4" idx="2"/>
          </p:cNvCxnSpPr>
          <p:nvPr/>
        </p:nvCxnSpPr>
        <p:spPr>
          <a:xfrm rot="5400000">
            <a:off x="5103353" y="684687"/>
            <a:ext cx="1351228" cy="1660044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990BD134-69C0-4493-B7D7-10B5880453D2}"/>
              </a:ext>
            </a:extLst>
          </p:cNvPr>
          <p:cNvCxnSpPr>
            <a:cxnSpLocks/>
          </p:cNvCxnSpPr>
          <p:nvPr/>
        </p:nvCxnSpPr>
        <p:spPr>
          <a:xfrm rot="5400000">
            <a:off x="5813928" y="1178543"/>
            <a:ext cx="1918448" cy="1479809"/>
          </a:xfrm>
          <a:prstGeom prst="bentConnector3">
            <a:avLst>
              <a:gd name="adj1" fmla="val 10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91A99686-BEB6-4D40-84DB-BD4307475F7A}"/>
              </a:ext>
            </a:extLst>
          </p:cNvPr>
          <p:cNvCxnSpPr/>
          <p:nvPr/>
        </p:nvCxnSpPr>
        <p:spPr>
          <a:xfrm rot="10800000" flipV="1">
            <a:off x="5082988" y="1111509"/>
            <a:ext cx="3451412" cy="2564020"/>
          </a:xfrm>
          <a:prstGeom prst="bentConnector3">
            <a:avLst>
              <a:gd name="adj1" fmla="val -39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Соединитель: уступ 26">
            <a:extLst>
              <a:ext uri="{FF2B5EF4-FFF2-40B4-BE49-F238E27FC236}">
                <a16:creationId xmlns:a16="http://schemas.microsoft.com/office/drawing/2014/main" id="{BF6756B1-E075-4A02-9BEA-FD29BAC62197}"/>
              </a:ext>
            </a:extLst>
          </p:cNvPr>
          <p:cNvCxnSpPr>
            <a:endCxn id="8" idx="3"/>
          </p:cNvCxnSpPr>
          <p:nvPr/>
        </p:nvCxnSpPr>
        <p:spPr>
          <a:xfrm rot="5400000">
            <a:off x="7057834" y="1740321"/>
            <a:ext cx="3373617" cy="210729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8C0FC8CD-BDA8-446F-908F-6A07BA6AE5AE}"/>
              </a:ext>
            </a:extLst>
          </p:cNvPr>
          <p:cNvCxnSpPr/>
          <p:nvPr/>
        </p:nvCxnSpPr>
        <p:spPr>
          <a:xfrm rot="5400000">
            <a:off x="6997269" y="1475009"/>
            <a:ext cx="4455459" cy="3423886"/>
          </a:xfrm>
          <a:prstGeom prst="bentConnector3">
            <a:avLst>
              <a:gd name="adj1" fmla="val 99698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29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5FADA6AF-B080-426C-97AA-6A455DC4A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2192000" cy="67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474BA1A-8F8B-44BC-AA0B-F8D13C409C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516"/>
          <a:stretch/>
        </p:blipFill>
        <p:spPr bwMode="auto">
          <a:xfrm>
            <a:off x="3325905" y="1714896"/>
            <a:ext cx="5199530" cy="390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4EC30C-716C-425D-B5CF-05B0713BC583}"/>
              </a:ext>
            </a:extLst>
          </p:cNvPr>
          <p:cNvSpPr txBox="1"/>
          <p:nvPr/>
        </p:nvSpPr>
        <p:spPr>
          <a:xfrm>
            <a:off x="1137521" y="205192"/>
            <a:ext cx="105064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Принцип хранимой программы</a:t>
            </a:r>
            <a:endParaRPr lang="ru-RU" sz="6000" b="1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8639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D98B3E67-7826-41DE-967A-8C3A3AEF8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2192000" cy="67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2" descr="Picture background">
            <a:extLst>
              <a:ext uri="{FF2B5EF4-FFF2-40B4-BE49-F238E27FC236}">
                <a16:creationId xmlns:a16="http://schemas.microsoft.com/office/drawing/2014/main" id="{D4CEDF54-7B2D-4B80-9927-1BB25F75AF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FBE93B36-D380-4411-8A65-1F0B93FE0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159" y="1401753"/>
            <a:ext cx="6022881" cy="451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825D82A-A188-4628-89AA-C50BFA72862C}"/>
              </a:ext>
            </a:extLst>
          </p:cNvPr>
          <p:cNvSpPr/>
          <p:nvPr/>
        </p:nvSpPr>
        <p:spPr>
          <a:xfrm>
            <a:off x="1041198" y="201424"/>
            <a:ext cx="111508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Принцип </a:t>
            </a:r>
            <a:r>
              <a:rPr lang="ru-RU" sz="5400" dirty="0" smtClean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программного управления</a:t>
            </a:r>
            <a:endParaRPr lang="ru-RU" sz="5400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  <a:p>
            <a:endParaRPr lang="ru-RU" b="1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17765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2DF3F5CF-FB4A-4EBE-856B-B33243B4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2192000" cy="67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C26AC2DC-40E7-4B3C-846D-F97FCE87C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812" y="1730188"/>
            <a:ext cx="6391835" cy="4401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7D6E93-B526-4993-B246-E88F86541B34}"/>
              </a:ext>
            </a:extLst>
          </p:cNvPr>
          <p:cNvSpPr txBox="1"/>
          <p:nvPr/>
        </p:nvSpPr>
        <p:spPr>
          <a:xfrm>
            <a:off x="1030767" y="341711"/>
            <a:ext cx="1049357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Принцип адресности памяти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947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2B345006-0216-4FFB-9BF4-3815F7BBE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2192000" cy="67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252F635B-A853-45A1-BB76-BAD23AA21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012" y="1808331"/>
            <a:ext cx="7879976" cy="441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2B6C987-0CA0-4023-A634-4B067ED22731}"/>
              </a:ext>
            </a:extLst>
          </p:cNvPr>
          <p:cNvSpPr/>
          <p:nvPr/>
        </p:nvSpPr>
        <p:spPr>
          <a:xfrm>
            <a:off x="1226567" y="405100"/>
            <a:ext cx="10502042" cy="10282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60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Принцип однородности памяти</a:t>
            </a:r>
          </a:p>
        </p:txBody>
      </p:sp>
    </p:spTree>
    <p:extLst>
      <p:ext uri="{BB962C8B-B14F-4D97-AF65-F5344CB8AC3E}">
        <p14:creationId xmlns:p14="http://schemas.microsoft.com/office/powerpoint/2010/main" val="124469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2A40CF85-3CE2-4321-8FF0-E298566F5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2192000" cy="67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63B831E8-47F5-4B83-8DF0-671C9187D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48006"/>
            <a:ext cx="7620000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47E839D-963E-473A-AD0D-AD45D24BCC62}"/>
              </a:ext>
            </a:extLst>
          </p:cNvPr>
          <p:cNvSpPr/>
          <p:nvPr/>
        </p:nvSpPr>
        <p:spPr>
          <a:xfrm>
            <a:off x="549994" y="544899"/>
            <a:ext cx="110920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Использование двоичной системы счисления</a:t>
            </a:r>
            <a:endParaRPr lang="ru-RU" sz="4400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4784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3CE6951C-76FD-4D7E-B648-AFC8529F3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2192000" cy="67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98F83A2-6E93-436E-9AD7-AF2A2D60FB03}"/>
              </a:ext>
            </a:extLst>
          </p:cNvPr>
          <p:cNvSpPr/>
          <p:nvPr/>
        </p:nvSpPr>
        <p:spPr>
          <a:xfrm>
            <a:off x="1103687" y="300800"/>
            <a:ext cx="10594567" cy="11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7200" dirty="0">
                <a:solidFill>
                  <a:schemeClr val="bg1"/>
                </a:solidFill>
                <a:latin typeface="Resident Evil 7(RUS BY LYAJKA)" panose="02000500000000000000" pitchFamily="2" charset="-52"/>
                <a:ea typeface="Calibri" panose="020F0502020204030204" pitchFamily="34" charset="0"/>
                <a:cs typeface="Times New Roman" panose="02020603050405020304" pitchFamily="18" charset="0"/>
              </a:rPr>
              <a:t>Структурная организация архитектуры фон Неймана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A7415-A00C-44BD-B7F6-7BE1BDC4C33A}"/>
              </a:ext>
            </a:extLst>
          </p:cNvPr>
          <p:cNvSpPr txBox="1"/>
          <p:nvPr/>
        </p:nvSpPr>
        <p:spPr>
          <a:xfrm>
            <a:off x="-548023" y="1770035"/>
            <a:ext cx="68772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Центральный процессор (ЦП)</a:t>
            </a:r>
            <a:b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</a:br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Арифметико-логического устройства (АЛУ)</a:t>
            </a:r>
            <a:b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</a:br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Устройства управления (УУ)</a:t>
            </a:r>
            <a:b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</a:br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Регистры</a:t>
            </a:r>
            <a:b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</a:br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Оперативная память (ОЗУ)</a:t>
            </a:r>
          </a:p>
          <a:p>
            <a:pPr algn="ctr"/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Устройства ввода</a:t>
            </a:r>
            <a:r>
              <a:rPr lang="en-US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/</a:t>
            </a:r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вывода (В</a:t>
            </a:r>
            <a:r>
              <a:rPr lang="en-US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/</a:t>
            </a:r>
            <a:r>
              <a:rPr lang="ru-RU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В</a:t>
            </a:r>
            <a:r>
              <a:rPr lang="en-US" sz="3600" dirty="0">
                <a:solidFill>
                  <a:schemeClr val="bg1"/>
                </a:solidFill>
                <a:latin typeface="Resident Evil 7(RUS BY LYAJKA)" panose="02000500000000000000" pitchFamily="2" charset="-52"/>
              </a:rPr>
              <a:t>)</a:t>
            </a:r>
            <a:endParaRPr lang="ru-RU" sz="3600" dirty="0">
              <a:solidFill>
                <a:schemeClr val="bg1"/>
              </a:solidFill>
              <a:latin typeface="Resident Evil 7(RUS BY LYAJKA)" panose="02000500000000000000" pitchFamily="2" charset="-52"/>
            </a:endParaRPr>
          </a:p>
        </p:txBody>
      </p:sp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23091EDB-172B-4354-9049-DEDC626BB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0" t="14002" r="9360" b="11635"/>
          <a:stretch/>
        </p:blipFill>
        <p:spPr bwMode="auto">
          <a:xfrm>
            <a:off x="6403558" y="1450390"/>
            <a:ext cx="1515035" cy="136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7BB6F5EC-0C2D-4274-AC67-20394C0F9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95" y="1436300"/>
            <a:ext cx="1910169" cy="144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icture background">
            <a:extLst>
              <a:ext uri="{FF2B5EF4-FFF2-40B4-BE49-F238E27FC236}">
                <a16:creationId xmlns:a16="http://schemas.microsoft.com/office/drawing/2014/main" id="{503E2DBF-4CA3-40DD-BF77-4F0BBCD11F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" t="11085" r="5709" b="14505"/>
          <a:stretch/>
        </p:blipFill>
        <p:spPr bwMode="auto">
          <a:xfrm rot="21422441">
            <a:off x="10153890" y="1405714"/>
            <a:ext cx="1910169" cy="1473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Picture background">
            <a:extLst>
              <a:ext uri="{FF2B5EF4-FFF2-40B4-BE49-F238E27FC236}">
                <a16:creationId xmlns:a16="http://schemas.microsoft.com/office/drawing/2014/main" id="{17326A42-8229-447E-BB41-9954D30DF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067" y="3535797"/>
            <a:ext cx="2368526" cy="144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Picture background">
            <a:extLst>
              <a:ext uri="{FF2B5EF4-FFF2-40B4-BE49-F238E27FC236}">
                <a16:creationId xmlns:a16="http://schemas.microsoft.com/office/drawing/2014/main" id="{E662573A-D233-4C46-91F5-A514B68A83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7" t="11509" r="1551" b="7208"/>
          <a:stretch/>
        </p:blipFill>
        <p:spPr bwMode="auto">
          <a:xfrm>
            <a:off x="8067195" y="3310308"/>
            <a:ext cx="4087906" cy="288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82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65</Words>
  <Application>Microsoft Office PowerPoint</Application>
  <PresentationFormat>Широкоэкранный</PresentationFormat>
  <Paragraphs>17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Bahnschrift SemiBold Condensed</vt:lpstr>
      <vt:lpstr>Calibri</vt:lpstr>
      <vt:lpstr>Calibri Light</vt:lpstr>
      <vt:lpstr>Resident Evil 7(RUS BY LYAJKA)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Никита</dc:creator>
  <cp:lastModifiedBy>Котохин Артём Ильич</cp:lastModifiedBy>
  <cp:revision>27</cp:revision>
  <dcterms:created xsi:type="dcterms:W3CDTF">2025-09-23T22:49:05Z</dcterms:created>
  <dcterms:modified xsi:type="dcterms:W3CDTF">2025-10-27T07:01:02Z</dcterms:modified>
</cp:coreProperties>
</file>
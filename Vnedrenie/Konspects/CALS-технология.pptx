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AA279-BB63-4778-A998-58B3C37D4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8A1989-033E-49A3-B882-B7FA1E219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F01347-F2C2-4A1F-BF7A-91EF9E18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0362-AE60-4B81-B557-776FBFB73616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877B5E-CA50-4FDF-8E0E-1341F74D2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29B63A-B0D9-458C-A0E8-5E64F877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02904-D572-45AE-ACAB-9DF7338CB2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293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9502D-4575-4B2F-9375-776F2DC5E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2E5216-57A5-46AA-A362-81D4C876C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A817A6-C5C1-4559-84EF-456885032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0362-AE60-4B81-B557-776FBFB73616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291AB2-7D7B-4DF5-AFC4-6019E8270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20D65B-A473-443B-8EA7-1A0167F4E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02904-D572-45AE-ACAB-9DF7338CB2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64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92E241-D0EF-45E8-8D78-1A475C6E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6C81CF-3631-49B0-B38F-6222A375E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1105B5-BE0A-4BC4-A42B-6C898B11F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0362-AE60-4B81-B557-776FBFB73616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82E49A-C268-4703-A2E5-A64B97854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C16BD-2B83-43C3-BC03-3D52282B4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02904-D572-45AE-ACAB-9DF7338CB2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16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EBE75-775C-4607-8E49-7CE092BA5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81A930-FFAA-4C1B-AD8F-DC4AEBE73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94CC36-80B0-40EB-9B8B-E3185A0DE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F88894-BA9E-49C8-8C10-EBBBE4567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0362-AE60-4B81-B557-776FBFB73616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C11E39-826E-4B0B-A39B-A2BA9608E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C15868-0847-47AB-8C08-E077ADA8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02904-D572-45AE-ACAB-9DF7338CB2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026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93B80-F9D6-46AF-942B-BE65EFD21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B5B454-B640-4E00-8885-02A19A14C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B6AF4A-8A8A-484F-ADA2-72B51979C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2EEAC1A-0872-48D7-898A-F3B13D5B2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E1C800-3BDF-4067-988A-36A175877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FBAD470-DE3C-4BAF-B8CD-1A8269EC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0362-AE60-4B81-B557-776FBFB73616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5BC6A11-6F86-4365-ADB7-41800E72E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3AA4F01-C0ED-40D8-B68A-2B1C9575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02904-D572-45AE-ACAB-9DF7338CB2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99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24C30-503A-45EF-A0A4-8261380F3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07191B-0967-4F4C-A0EE-28733294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0362-AE60-4B81-B557-776FBFB73616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2213B84-AAF6-4904-9DA7-97CEF93E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AA9E64-A0F3-430E-BB14-D0F9D8F4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02904-D572-45AE-ACAB-9DF7338CB2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16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B13E33B-707C-4CAB-91F4-14C5C4F96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0362-AE60-4B81-B557-776FBFB73616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B9D9125-A59C-42F0-94C8-2FE2BB298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72029E-9137-45C9-8BF2-3FE298C9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02904-D572-45AE-ACAB-9DF7338CB2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72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DDFD-86C3-42FD-962A-5A7F656F7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1B457D-9EE4-4C62-9CEE-F7E571326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4A60AD-FC2A-419D-9D9B-6F8A424CB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7D186E-2E89-47E2-9D31-2EB267BB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0362-AE60-4B81-B557-776FBFB73616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B2C081-954E-4AF1-9EB3-A2CA129C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CA596C-4891-4B5C-9520-871F22BA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02904-D572-45AE-ACAB-9DF7338CB2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996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2B780-7EB1-4909-8449-55485935E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FD9133F-2F96-4293-BA61-64AB44597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D30FF8-A548-4299-BD0E-63E8C782B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0C83F4-597F-4C63-B57C-6582BB063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0362-AE60-4B81-B557-776FBFB73616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787E3D-9E7A-4EBE-9185-4A583A4A0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3D4C12-38E7-4556-9419-6D24839A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02904-D572-45AE-ACAB-9DF7338CB2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8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8266A9-8518-4923-9A52-3F3B2F42D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9E4919F-05CC-472F-BFA7-1895792EF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5C8E67-F2BC-4849-9D3D-79A0EB5D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0362-AE60-4B81-B557-776FBFB73616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5FFF82-1CE4-4D86-A686-B9D862E6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649063-48FE-40A9-90A3-AD35909F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02904-D572-45AE-ACAB-9DF7338CB2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981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23BCECB-0362-44BC-801C-9712CEDE8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FEC9392-BB31-4FD1-B9E3-05E778B56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CD7F87-0639-4C53-B57E-174FFB84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20362-AE60-4B81-B557-776FBFB73616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38265-209D-412D-BEA0-8D2BFF7DF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DA14D4-EDB0-4B87-8782-16ED15D1C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02904-D572-45AE-ACAB-9DF7338CB2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45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40FC8-4C03-4982-AF9E-EE2A388E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780CAB-AF42-4BF2-ABB5-FD25C5699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D31138-776B-4CCF-85CE-08F8D8C454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20362-AE60-4B81-B557-776FBFB73616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B56971-6680-4884-94DF-C9E14FD4F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77B839-90CF-43E8-8C67-FAF3F0413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02904-D572-45AE-ACAB-9DF7338CB2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462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F3CE6-74C7-41E2-A2A7-2B1A0F000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7200" dirty="0"/>
              <a:t>CALS-</a:t>
            </a:r>
            <a:r>
              <a:rPr lang="ru-RU" sz="7200" dirty="0"/>
              <a:t>технология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370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24DD0-B6B4-449E-A5A8-EB7DC2268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История возникновения</a:t>
            </a:r>
          </a:p>
        </p:txBody>
      </p:sp>
      <p:pic>
        <p:nvPicPr>
          <p:cNvPr id="1026" name="Picture 2" descr="CALS-идеология и технология в интегрированной системе управления качеством  продукции | Гекомс">
            <a:extLst>
              <a:ext uri="{FF2B5EF4-FFF2-40B4-BE49-F238E27FC236}">
                <a16:creationId xmlns:a16="http://schemas.microsoft.com/office/drawing/2014/main" id="{63D141D1-7C67-404D-97E7-CC68581958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347" y="1611869"/>
            <a:ext cx="602530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740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A4EFCE-F720-41A0-A09C-F1384AFA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3951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Ключевые принципы CALS-технологий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AF613E3-AEB4-4C0E-83E3-78412912FC0C}"/>
              </a:ext>
            </a:extLst>
          </p:cNvPr>
          <p:cNvSpPr/>
          <p:nvPr/>
        </p:nvSpPr>
        <p:spPr>
          <a:xfrm>
            <a:off x="0" y="1100837"/>
            <a:ext cx="4182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Единое информационное пространство</a:t>
            </a:r>
            <a:endParaRPr lang="ru-RU" dirty="0"/>
          </a:p>
        </p:txBody>
      </p:sp>
      <p:pic>
        <p:nvPicPr>
          <p:cNvPr id="2050" name="Picture 2" descr="Подходы и принципы построения единого информационного пространства в  системе органов военного управления">
            <a:extLst>
              <a:ext uri="{FF2B5EF4-FFF2-40B4-BE49-F238E27FC236}">
                <a16:creationId xmlns:a16="http://schemas.microsoft.com/office/drawing/2014/main" id="{971521D6-78B7-4810-8880-FA2A7D09A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41" y="1534885"/>
            <a:ext cx="3040082" cy="228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Безбумажный офис для ВТБ - Connect-WIT">
            <a:extLst>
              <a:ext uri="{FF2B5EF4-FFF2-40B4-BE49-F238E27FC236}">
                <a16:creationId xmlns:a16="http://schemas.microsoft.com/office/drawing/2014/main" id="{607D48E8-8D71-443B-B362-BB51DE99C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023" y="1534886"/>
            <a:ext cx="3802289" cy="228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BBB7F6D-B210-4D4A-8A76-183E110C173F}"/>
              </a:ext>
            </a:extLst>
          </p:cNvPr>
          <p:cNvSpPr/>
          <p:nvPr/>
        </p:nvSpPr>
        <p:spPr>
          <a:xfrm>
            <a:off x="4855567" y="1100837"/>
            <a:ext cx="27361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Безбумажная технология</a:t>
            </a:r>
            <a:endParaRPr lang="ru-RU" dirty="0"/>
          </a:p>
        </p:txBody>
      </p:sp>
      <p:pic>
        <p:nvPicPr>
          <p:cNvPr id="2054" name="Picture 6" descr="Как стандартизировать сервис | блог Новая Эпоха Управления">
            <a:extLst>
              <a:ext uri="{FF2B5EF4-FFF2-40B4-BE49-F238E27FC236}">
                <a16:creationId xmlns:a16="http://schemas.microsoft.com/office/drawing/2014/main" id="{AD64D15A-2403-4BBF-9400-725B8DCBA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898" y="1534885"/>
            <a:ext cx="3903102" cy="228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3BB1D8-E9AD-4482-84FD-858E7BF075CF}"/>
              </a:ext>
            </a:extLst>
          </p:cNvPr>
          <p:cNvSpPr/>
          <p:nvPr/>
        </p:nvSpPr>
        <p:spPr>
          <a:xfrm>
            <a:off x="9471198" y="1100837"/>
            <a:ext cx="1811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Стандартизация</a:t>
            </a:r>
            <a:endParaRPr lang="ru-RU" dirty="0"/>
          </a:p>
        </p:txBody>
      </p:sp>
      <p:sp>
        <p:nvSpPr>
          <p:cNvPr id="7" name="AutoShape 8" descr="zoom.cnews.ru - тесты и обзоры, каталог компьютерной, мобильной, фото и  аудио техники, бытовой и кухонной техники, цены магазинов">
            <a:extLst>
              <a:ext uri="{FF2B5EF4-FFF2-40B4-BE49-F238E27FC236}">
                <a16:creationId xmlns:a16="http://schemas.microsoft.com/office/drawing/2014/main" id="{FE668390-14A3-4155-9C71-1E1F64F6F4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8" name="Picture 10" descr="Непрерывность – Бесплатные иконки: бизнес и финансы">
            <a:extLst>
              <a:ext uri="{FF2B5EF4-FFF2-40B4-BE49-F238E27FC236}">
                <a16:creationId xmlns:a16="http://schemas.microsoft.com/office/drawing/2014/main" id="{AE4BC1B7-D469-4301-9DAC-D5A561DA8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479" y="444581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4908BBB-0547-4E6E-9558-0C38D986AC05}"/>
              </a:ext>
            </a:extLst>
          </p:cNvPr>
          <p:cNvSpPr/>
          <p:nvPr/>
        </p:nvSpPr>
        <p:spPr>
          <a:xfrm>
            <a:off x="2889060" y="3995602"/>
            <a:ext cx="2585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Непрерывность данных</a:t>
            </a:r>
            <a:endParaRPr lang="ru-RU" dirty="0"/>
          </a:p>
        </p:txBody>
      </p:sp>
      <p:pic>
        <p:nvPicPr>
          <p:cNvPr id="2060" name="Picture 12" descr="ПАРАЛЛЕЛЬНОЕ ПРОЕКТИРОВАНИЕ">
            <a:extLst>
              <a:ext uri="{FF2B5EF4-FFF2-40B4-BE49-F238E27FC236}">
                <a16:creationId xmlns:a16="http://schemas.microsoft.com/office/drawing/2014/main" id="{C7333679-2934-4324-9E43-956A1B101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836" y="4441347"/>
            <a:ext cx="3505200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58F7DEA-198A-40EB-BD2A-9AF6388E6B61}"/>
              </a:ext>
            </a:extLst>
          </p:cNvPr>
          <p:cNvSpPr/>
          <p:nvPr/>
        </p:nvSpPr>
        <p:spPr>
          <a:xfrm>
            <a:off x="6716978" y="3995602"/>
            <a:ext cx="3353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Параллельное проектирование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40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6BFAE8-DD53-483E-8328-B6D77B1BD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48"/>
            <a:ext cx="10515600" cy="5640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Архитектура и стандарты</a:t>
            </a:r>
            <a:br>
              <a:rPr lang="ru-RU" dirty="0"/>
            </a:br>
            <a:endParaRPr lang="ru-RU" dirty="0"/>
          </a:p>
        </p:txBody>
      </p:sp>
      <p:pic>
        <p:nvPicPr>
          <p:cNvPr id="3074" name="Picture 2" descr="CAD/CAM/CAE системы">
            <a:extLst>
              <a:ext uri="{FF2B5EF4-FFF2-40B4-BE49-F238E27FC236}">
                <a16:creationId xmlns:a16="http://schemas.microsoft.com/office/drawing/2014/main" id="{CFDAB347-043A-4BA9-8281-9E9C079ED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96" y="1325090"/>
            <a:ext cx="2961718" cy="296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FE6126A-4F7B-4459-8CD5-7A3800A13917}"/>
              </a:ext>
            </a:extLst>
          </p:cNvPr>
          <p:cNvSpPr/>
          <p:nvPr/>
        </p:nvSpPr>
        <p:spPr>
          <a:xfrm>
            <a:off x="1070895" y="833643"/>
            <a:ext cx="25331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CAD/CAE/CAM системы</a:t>
            </a:r>
            <a:endParaRPr lang="ru-RU" dirty="0"/>
          </a:p>
        </p:txBody>
      </p:sp>
      <p:pic>
        <p:nvPicPr>
          <p:cNvPr id="3076" name="Picture 4" descr="Преимущества PLM и PDM систем: основные особенности внедрения и применения">
            <a:extLst>
              <a:ext uri="{FF2B5EF4-FFF2-40B4-BE49-F238E27FC236}">
                <a16:creationId xmlns:a16="http://schemas.microsoft.com/office/drawing/2014/main" id="{E2CF3CBE-581F-4A8E-80C1-D0406B629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884" y="1325090"/>
            <a:ext cx="4060845" cy="2820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A4081A8-3383-42FF-9EC2-76B4C9AFE9B1}"/>
              </a:ext>
            </a:extLst>
          </p:cNvPr>
          <p:cNvSpPr/>
          <p:nvPr/>
        </p:nvSpPr>
        <p:spPr>
          <a:xfrm>
            <a:off x="5335161" y="833643"/>
            <a:ext cx="20842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PDM/PLM системы</a:t>
            </a:r>
            <a:endParaRPr lang="ru-RU" dirty="0"/>
          </a:p>
        </p:txBody>
      </p:sp>
      <p:pic>
        <p:nvPicPr>
          <p:cNvPr id="3078" name="Picture 6" descr="Что такое ERP? / Хабр">
            <a:extLst>
              <a:ext uri="{FF2B5EF4-FFF2-40B4-BE49-F238E27FC236}">
                <a16:creationId xmlns:a16="http://schemas.microsoft.com/office/drawing/2014/main" id="{4568E47B-F5CD-48F7-9A0C-094B72E1D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9258" y="1555915"/>
            <a:ext cx="218122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14493E5-22FE-4D91-AA3F-54BA20C4BFA7}"/>
              </a:ext>
            </a:extLst>
          </p:cNvPr>
          <p:cNvSpPr/>
          <p:nvPr/>
        </p:nvSpPr>
        <p:spPr>
          <a:xfrm>
            <a:off x="9889154" y="902526"/>
            <a:ext cx="14559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ERP системы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1892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A2E559-D6AA-4F41-814D-C7FEA3E45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Важнейшую роль играют стандарты:</a:t>
            </a:r>
            <a:br>
              <a:rPr lang="ru-RU" b="1" dirty="0"/>
            </a:br>
            <a:endParaRPr lang="ru-RU" b="1" dirty="0"/>
          </a:p>
        </p:txBody>
      </p:sp>
      <p:pic>
        <p:nvPicPr>
          <p:cNvPr id="4104" name="Picture 8" descr="Picture background">
            <a:extLst>
              <a:ext uri="{FF2B5EF4-FFF2-40B4-BE49-F238E27FC236}">
                <a16:creationId xmlns:a16="http://schemas.microsoft.com/office/drawing/2014/main" id="{D6719AD9-106E-4ACE-A134-7D8E975F7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11890"/>
            <a:ext cx="3981450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2794DAC-6A59-4533-BB3B-BB70000DA5CE}"/>
              </a:ext>
            </a:extLst>
          </p:cNvPr>
          <p:cNvSpPr/>
          <p:nvPr/>
        </p:nvSpPr>
        <p:spPr>
          <a:xfrm>
            <a:off x="2013127" y="681036"/>
            <a:ext cx="18014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ISO 10303 (STEP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dirty="0"/>
          </a:p>
        </p:txBody>
      </p:sp>
      <p:pic>
        <p:nvPicPr>
          <p:cNvPr id="4106" name="Picture 10" descr="Picture background">
            <a:extLst>
              <a:ext uri="{FF2B5EF4-FFF2-40B4-BE49-F238E27FC236}">
                <a16:creationId xmlns:a16="http://schemas.microsoft.com/office/drawing/2014/main" id="{267CA430-F585-49C2-9EFD-625CA7341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64" y="1049977"/>
            <a:ext cx="406717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5C477BC-D484-4654-935E-285A901DAF43}"/>
              </a:ext>
            </a:extLst>
          </p:cNvPr>
          <p:cNvSpPr/>
          <p:nvPr/>
        </p:nvSpPr>
        <p:spPr>
          <a:xfrm>
            <a:off x="6811042" y="681036"/>
            <a:ext cx="13724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SGML / XML</a:t>
            </a:r>
            <a:endParaRPr lang="ru-RU" dirty="0"/>
          </a:p>
        </p:txBody>
      </p:sp>
      <p:pic>
        <p:nvPicPr>
          <p:cNvPr id="4108" name="Picture 12" descr="Picture background">
            <a:extLst>
              <a:ext uri="{FF2B5EF4-FFF2-40B4-BE49-F238E27FC236}">
                <a16:creationId xmlns:a16="http://schemas.microsoft.com/office/drawing/2014/main" id="{9D80E8D3-5A54-49A6-996D-3F2277B0E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582" y="4351338"/>
            <a:ext cx="3981450" cy="2488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D45ACFE-3242-4067-8495-206E6116B8A3}"/>
              </a:ext>
            </a:extLst>
          </p:cNvPr>
          <p:cNvSpPr/>
          <p:nvPr/>
        </p:nvSpPr>
        <p:spPr>
          <a:xfrm>
            <a:off x="5468516" y="3982006"/>
            <a:ext cx="673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IETM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97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A43F94-9D29-41A7-8032-044215BE9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1764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Преимущества внедрения</a:t>
            </a:r>
            <a:endParaRPr lang="ru-RU" dirty="0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7C1572F7-3AD6-4A63-8701-14257E74E2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37" b="15700"/>
          <a:stretch/>
        </p:blipFill>
        <p:spPr bwMode="auto">
          <a:xfrm>
            <a:off x="166255" y="1571705"/>
            <a:ext cx="4233554" cy="226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B7BAD94-0A1F-4A5D-9CC5-E408FEFB3EC2}"/>
              </a:ext>
            </a:extLst>
          </p:cNvPr>
          <p:cNvSpPr/>
          <p:nvPr/>
        </p:nvSpPr>
        <p:spPr>
          <a:xfrm>
            <a:off x="1295631" y="1106776"/>
            <a:ext cx="2190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Сокращение сроков</a:t>
            </a:r>
            <a:endParaRPr lang="ru-RU" dirty="0"/>
          </a:p>
        </p:txBody>
      </p:sp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9F59C2F9-4458-4616-AF93-992E95BD3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570" y="1571705"/>
            <a:ext cx="3804979" cy="226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D77D66E-D7AD-44E4-9F05-1050A4B85499}"/>
              </a:ext>
            </a:extLst>
          </p:cNvPr>
          <p:cNvSpPr/>
          <p:nvPr/>
        </p:nvSpPr>
        <p:spPr>
          <a:xfrm>
            <a:off x="5444485" y="1106776"/>
            <a:ext cx="1893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Снижение затрат</a:t>
            </a:r>
            <a:endParaRPr lang="ru-RU" dirty="0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0A3D2172-43EA-46FF-8786-CB515F924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311" y="1552459"/>
            <a:ext cx="3427699" cy="2285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E7E7340-D2DC-46D0-A563-19F0EEF04932}"/>
              </a:ext>
            </a:extLst>
          </p:cNvPr>
          <p:cNvSpPr/>
          <p:nvPr/>
        </p:nvSpPr>
        <p:spPr>
          <a:xfrm>
            <a:off x="9119259" y="1106776"/>
            <a:ext cx="23137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Повышение качества</a:t>
            </a:r>
            <a:endParaRPr lang="ru-RU" dirty="0"/>
          </a:p>
        </p:txBody>
      </p:sp>
      <p:pic>
        <p:nvPicPr>
          <p:cNvPr id="5128" name="Picture 8" descr="Picture background">
            <a:extLst>
              <a:ext uri="{FF2B5EF4-FFF2-40B4-BE49-F238E27FC236}">
                <a16:creationId xmlns:a16="http://schemas.microsoft.com/office/drawing/2014/main" id="{65245FF4-168D-4548-A02C-340D5A5FC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570" y="4357693"/>
            <a:ext cx="3680057" cy="230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60D5C9F-C8D1-4F17-852B-08A99E6C00F6}"/>
              </a:ext>
            </a:extLst>
          </p:cNvPr>
          <p:cNvSpPr/>
          <p:nvPr/>
        </p:nvSpPr>
        <p:spPr>
          <a:xfrm>
            <a:off x="5024049" y="3836165"/>
            <a:ext cx="2734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Эффективная поддержка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4344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4FD60-B069-42F0-9521-265B29200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065" y="0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Проблемы и вызовы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B7EBBB9-0186-4B0D-89E8-89C1B82606CD}"/>
              </a:ext>
            </a:extLst>
          </p:cNvPr>
          <p:cNvSpPr/>
          <p:nvPr/>
        </p:nvSpPr>
        <p:spPr>
          <a:xfrm>
            <a:off x="744960" y="1325563"/>
            <a:ext cx="2116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Высокая стоимость</a:t>
            </a:r>
            <a:endParaRPr lang="ru-RU" dirty="0"/>
          </a:p>
        </p:txBody>
      </p:sp>
      <p:pic>
        <p:nvPicPr>
          <p:cNvPr id="6146" name="Picture 2" descr="Увеличение цен на продукцию типографии - Новости - Типография - Национальный исс">
            <a:extLst>
              <a:ext uri="{FF2B5EF4-FFF2-40B4-BE49-F238E27FC236}">
                <a16:creationId xmlns:a16="http://schemas.microsoft.com/office/drawing/2014/main" id="{86C6273B-F834-4F88-8C6C-0307E2529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51" y="1694895"/>
            <a:ext cx="2877787" cy="191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icture background">
            <a:extLst>
              <a:ext uri="{FF2B5EF4-FFF2-40B4-BE49-F238E27FC236}">
                <a16:creationId xmlns:a16="http://schemas.microsoft.com/office/drawing/2014/main" id="{74519620-A339-4D61-BE04-105909AC2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095" y="1694895"/>
            <a:ext cx="3410712" cy="191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0B7BA46-440C-4E8B-93F6-849021A02C85}"/>
              </a:ext>
            </a:extLst>
          </p:cNvPr>
          <p:cNvSpPr/>
          <p:nvPr/>
        </p:nvSpPr>
        <p:spPr>
          <a:xfrm>
            <a:off x="4318471" y="1325563"/>
            <a:ext cx="2847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Сопротивление персонала</a:t>
            </a:r>
            <a:endParaRPr lang="ru-RU" dirty="0"/>
          </a:p>
        </p:txBody>
      </p:sp>
      <p:pic>
        <p:nvPicPr>
          <p:cNvPr id="6152" name="Picture 8" descr="Picture background">
            <a:extLst>
              <a:ext uri="{FF2B5EF4-FFF2-40B4-BE49-F238E27FC236}">
                <a16:creationId xmlns:a16="http://schemas.microsoft.com/office/drawing/2014/main" id="{97F98033-A752-4B6A-AB85-7F1F1A96A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297" y="1739371"/>
            <a:ext cx="2500684" cy="187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E9AB809-58C5-4317-8CB7-9213D3032DE2}"/>
              </a:ext>
            </a:extLst>
          </p:cNvPr>
          <p:cNvSpPr/>
          <p:nvPr/>
        </p:nvSpPr>
        <p:spPr>
          <a:xfrm>
            <a:off x="8671269" y="1325563"/>
            <a:ext cx="24852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Сложность интеграции</a:t>
            </a:r>
            <a:endParaRPr lang="ru-RU" dirty="0"/>
          </a:p>
        </p:txBody>
      </p:sp>
      <p:pic>
        <p:nvPicPr>
          <p:cNvPr id="6154" name="Picture 10">
            <a:extLst>
              <a:ext uri="{FF2B5EF4-FFF2-40B4-BE49-F238E27FC236}">
                <a16:creationId xmlns:a16="http://schemas.microsoft.com/office/drawing/2014/main" id="{EE854F94-71F5-479F-B00F-5B5366CB7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238" y="4691700"/>
            <a:ext cx="4572000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3DF4D0A-C7B5-4A72-9398-E0C41553A55B}"/>
              </a:ext>
            </a:extLst>
          </p:cNvPr>
          <p:cNvSpPr/>
          <p:nvPr/>
        </p:nvSpPr>
        <p:spPr>
          <a:xfrm>
            <a:off x="4502367" y="428936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Вопросы безопасности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5010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5F455-E454-4FCC-8470-750C3D534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27" y="-98013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Будущее CALS-технологий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05E5EE-C234-4C4F-8D2B-84EA5EF18D1F}"/>
              </a:ext>
            </a:extLst>
          </p:cNvPr>
          <p:cNvSpPr/>
          <p:nvPr/>
        </p:nvSpPr>
        <p:spPr>
          <a:xfrm>
            <a:off x="1110281" y="1221612"/>
            <a:ext cx="23118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Цифровые двойники</a:t>
            </a:r>
            <a:endParaRPr lang="ru-RU" dirty="0"/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AA8FE89D-C75B-4C3E-85F5-8A220A8CD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09" y="1590944"/>
            <a:ext cx="3598224" cy="1736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CF41AB87-682C-445F-8CE0-FA224A495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957" y="1578523"/>
            <a:ext cx="3109356" cy="174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DAB907-6475-431E-92D1-0AFEEFC6A93A}"/>
              </a:ext>
            </a:extLst>
          </p:cNvPr>
          <p:cNvSpPr/>
          <p:nvPr/>
        </p:nvSpPr>
        <p:spPr>
          <a:xfrm>
            <a:off x="5263326" y="1154277"/>
            <a:ext cx="2490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Облачные вычисления</a:t>
            </a:r>
            <a:endParaRPr lang="ru-RU" dirty="0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16058B81-7046-4466-ADBE-F9267F6E8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747" y="1590944"/>
            <a:ext cx="3109357" cy="174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994F90D-8351-4ADD-A6DD-825DB7855058}"/>
              </a:ext>
            </a:extLst>
          </p:cNvPr>
          <p:cNvSpPr/>
          <p:nvPr/>
        </p:nvSpPr>
        <p:spPr>
          <a:xfrm>
            <a:off x="9020015" y="1112713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Искусственный интеллект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96615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77</Words>
  <Application>Microsoft Office PowerPoint</Application>
  <PresentationFormat>Широкоэкранный</PresentationFormat>
  <Paragraphs>30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CALS-технология</vt:lpstr>
      <vt:lpstr>История возникновения</vt:lpstr>
      <vt:lpstr>Ключевые принципы CALS-технологий</vt:lpstr>
      <vt:lpstr>Архитектура и стандарты </vt:lpstr>
      <vt:lpstr>Важнейшую роль играют стандарты: </vt:lpstr>
      <vt:lpstr>Преимущества внедрения</vt:lpstr>
      <vt:lpstr>Проблемы и вызовы</vt:lpstr>
      <vt:lpstr>Будущее CALS-технологий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CALS-технология</dc:title>
  <dc:creator>Никита Бакшилов</dc:creator>
  <cp:lastModifiedBy>Никита Бакшилов</cp:lastModifiedBy>
  <cp:revision>8</cp:revision>
  <dcterms:created xsi:type="dcterms:W3CDTF">2026-02-26T22:36:08Z</dcterms:created>
  <dcterms:modified xsi:type="dcterms:W3CDTF">2026-02-26T23:29:22Z</dcterms:modified>
</cp:coreProperties>
</file>
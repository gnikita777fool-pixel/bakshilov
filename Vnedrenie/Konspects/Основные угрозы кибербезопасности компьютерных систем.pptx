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E6CCB-6506-42BC-B4ED-B89C991F3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E872CB-3C75-418C-87D0-266BB9ADD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2D609B-0091-4A92-AEEF-3BA0072D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1D690B-CEA2-4D47-962F-71287197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AF552F-0144-4EEA-9D0C-86360D85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97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A49A6-CAD0-4E26-B83D-CCDAD355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F2CF74-917A-4599-9755-197CE7EE2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D5B6B2-8B79-41B0-91B8-A3172067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C3C863-739C-4EC0-8AFE-53C6C63F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382B30-B128-4840-9756-D9A91060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44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70B30-2891-416C-9432-5F1C3ED9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7EC985-1B9F-4B77-BEC6-DFEB99528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9E1CFF-3E2A-4F0A-9893-AFED9A2A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701D11-BE60-4300-9DF3-7893C880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79B6C-480A-4492-98D4-5DC0E637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16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8904D-6621-4BD0-BA5A-1AB774956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61B5BB-F4AE-4357-8FE4-24B84ED47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FB352C-1D6C-4AF6-B6E3-8C09B3C2E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5A754A-8811-4423-8497-AF1CB852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0CBD01-6103-4849-AEC5-B4AD4498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6B2E7C-FEE0-496E-AECA-CD2A0A6B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91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D5774-0370-4AAD-82FD-8324CB5A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A001BA-E2D3-4F14-B5AF-0DCF354E6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A1D81A-7C90-4811-9324-7C7994426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E42F5D-2904-4192-92A2-CF66A13B9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47F38FA-C1E2-4A1B-8095-B74C54C84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FA8109-31A2-4334-8333-E757C1D1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18905A-7E42-4078-A9A7-40CDF4F3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D915A3D-8A2D-43B7-91D8-A2C34B6D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746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97884-91D3-467B-9731-AC583C0E1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058CAB-C0FC-4940-9594-3E9D2C74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B121C8-F77B-4632-80BC-F6315B10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909C80-08D6-4146-B9F6-6FEB6DCE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13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08A4B2-E5C7-4798-B732-01C499E0F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89DFB8-9022-4B57-8AA0-FB1029654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430D9A-037D-4461-B61D-E777AA745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64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3B64A5-8B9F-4358-899D-2860AEF8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04877E-2558-4556-BF12-65D939DE0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8C3ED2-B234-4A40-B604-F5F3EDC01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47ACEB-B121-4ED6-9F85-4272AEE8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B6229A-0BCB-4F44-9372-0E6475C4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14D76B-0048-421E-AD94-519B96B0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93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B77AC-F8BB-494D-8465-8690791D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35BA4D-5E0E-4070-97D7-35A4D0EE7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5256E0-A6BE-4D98-BA96-11E8A1A3A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15FD06-B799-43B7-8C3A-E497E2BC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4B1142-EEB0-4E36-AF1C-6F64BAEB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9BFAC5-FF33-49D9-B453-8EB8A9C3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36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4724E-F0F0-46C6-9E30-882252F9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26EB17-C9AF-440D-9E78-931EA5BA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009010-8453-42D6-BB38-ADFFD4BF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083C8A-0BF7-42D8-B51B-5BB9636F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5E3022-3941-4FFE-9001-F52F59C7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19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2D05DAE-AEE0-44EB-AE11-85CFB320C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23A630-852E-4F41-AC5E-E3A72C4FF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EFEF77-AF41-4E90-9031-3C758240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DC3B80-BDDA-427F-95D3-31DAFD81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5E5832-55B5-4B97-9ED6-19343FF3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7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38ACF-452A-4202-87DB-8CBCBE24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9AF06-70D3-47CB-AB61-744DB9058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9C1786-094C-4DD0-8818-5D2B1FD5F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E6B8B-1AC3-4192-A4EB-A9B5B72F731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CC62BF-EB3E-48F9-80A5-DEB9A03B6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D19C76-E22C-46B7-80A8-F6F4B592F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26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3B7C5-8CE3-4B2C-9E22-219039466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 fontScale="90000"/>
          </a:bodyPr>
          <a:lstStyle/>
          <a:p>
            <a:r>
              <a:rPr lang="ru-RU" dirty="0"/>
              <a:t>Основные угрозы кибербезопасности компьютерных систем</a:t>
            </a:r>
            <a:r>
              <a:rPr lang="en-US" dirty="0"/>
              <a:t>:</a:t>
            </a:r>
            <a:endParaRPr lang="ru-RU" sz="66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1E501D-E920-4CDB-946F-57AACE121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endParaRPr lang="ru-RU" sz="2800" dirty="0">
              <a:solidFill>
                <a:srgbClr val="FFFFFF"/>
              </a:solidFill>
            </a:endParaRPr>
          </a:p>
          <a:p>
            <a:endParaRPr lang="ru-RU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11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B30A36-2B76-4A63-B325-C2FA8048B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Направления </a:t>
            </a:r>
            <a:r>
              <a:rPr lang="ru-RU" dirty="0" err="1"/>
              <a:t>киберугроз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026" name="Picture 2" descr="What Is Ransomware? - Cisco">
            <a:extLst>
              <a:ext uri="{FF2B5EF4-FFF2-40B4-BE49-F238E27FC236}">
                <a16:creationId xmlns:a16="http://schemas.microsoft.com/office/drawing/2014/main" id="{A9B7819E-3398-4B7A-A677-9778C6FE4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81" y="2100040"/>
            <a:ext cx="2843834" cy="159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2B4504-970A-4AD7-A192-3EA258E28C9E}"/>
              </a:ext>
            </a:extLst>
          </p:cNvPr>
          <p:cNvSpPr txBox="1"/>
          <p:nvPr/>
        </p:nvSpPr>
        <p:spPr>
          <a:xfrm>
            <a:off x="629391" y="1145968"/>
            <a:ext cx="314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err="1"/>
              <a:t>Ransomware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1030" name="Picture 6" descr="Спирфишинг: разбираем методы атак и способы защиты от них / Хабр">
            <a:extLst>
              <a:ext uri="{FF2B5EF4-FFF2-40B4-BE49-F238E27FC236}">
                <a16:creationId xmlns:a16="http://schemas.microsoft.com/office/drawing/2014/main" id="{6C29A862-C1BF-4604-A3E3-6AABCFF8C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808" y="2155453"/>
            <a:ext cx="2566195" cy="154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FE15E5-D153-4EC8-9BFC-9F7F025C0941}"/>
              </a:ext>
            </a:extLst>
          </p:cNvPr>
          <p:cNvSpPr txBox="1"/>
          <p:nvPr/>
        </p:nvSpPr>
        <p:spPr>
          <a:xfrm>
            <a:off x="5140036" y="1211283"/>
            <a:ext cx="2315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Fishing:</a:t>
            </a:r>
            <a:endParaRPr lang="ru-RU" sz="4000" dirty="0"/>
          </a:p>
        </p:txBody>
      </p:sp>
      <p:pic>
        <p:nvPicPr>
          <p:cNvPr id="1032" name="Picture 8" descr="A deep dive into deepfakes that demean, defraud and disinform">
            <a:extLst>
              <a:ext uri="{FF2B5EF4-FFF2-40B4-BE49-F238E27FC236}">
                <a16:creationId xmlns:a16="http://schemas.microsoft.com/office/drawing/2014/main" id="{96CA5B92-1AE6-44E3-BAF3-9F34812E3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287" y="2156194"/>
            <a:ext cx="29622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DE7B9C-6E70-40E3-B610-B73C07A000FC}"/>
              </a:ext>
            </a:extLst>
          </p:cNvPr>
          <p:cNvSpPr txBox="1"/>
          <p:nvPr/>
        </p:nvSpPr>
        <p:spPr>
          <a:xfrm>
            <a:off x="9246920" y="1199246"/>
            <a:ext cx="2315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Deepfake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1034" name="Picture 10" descr="Фишинговые атаки стали опасней из-за ИИ и новых тактик">
            <a:extLst>
              <a:ext uri="{FF2B5EF4-FFF2-40B4-BE49-F238E27FC236}">
                <a16:creationId xmlns:a16="http://schemas.microsoft.com/office/drawing/2014/main" id="{7565B539-B349-44B1-9BAB-E147EACF1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1" y="4938994"/>
            <a:ext cx="2919227" cy="169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F5F863-F386-425D-8F99-D0114CE9D821}"/>
              </a:ext>
            </a:extLst>
          </p:cNvPr>
          <p:cNvSpPr txBox="1"/>
          <p:nvPr/>
        </p:nvSpPr>
        <p:spPr>
          <a:xfrm>
            <a:off x="991588" y="4065319"/>
            <a:ext cx="314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ИИ атаки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1038" name="Picture 14" descr="Внутренние угрозы информационной безопасности предприятия - lanagent.ru">
            <a:extLst>
              <a:ext uri="{FF2B5EF4-FFF2-40B4-BE49-F238E27FC236}">
                <a16:creationId xmlns:a16="http://schemas.microsoft.com/office/drawing/2014/main" id="{15054A0F-3679-4D5E-B394-FC1847FEE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808" y="4938994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ED8834-8BAC-4B98-BFA1-24692F50FC28}"/>
              </a:ext>
            </a:extLst>
          </p:cNvPr>
          <p:cNvSpPr txBox="1"/>
          <p:nvPr/>
        </p:nvSpPr>
        <p:spPr>
          <a:xfrm>
            <a:off x="4579741" y="3699244"/>
            <a:ext cx="31469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Внутренние</a:t>
            </a:r>
          </a:p>
          <a:p>
            <a:pPr algn="ctr"/>
            <a:r>
              <a:rPr lang="ru-RU" sz="4000" dirty="0"/>
              <a:t>Угрозы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1040" name="Picture 16" descr="Какими будут хакерские атаки в 2024 году">
            <a:extLst>
              <a:ext uri="{FF2B5EF4-FFF2-40B4-BE49-F238E27FC236}">
                <a16:creationId xmlns:a16="http://schemas.microsoft.com/office/drawing/2014/main" id="{D684A5CA-B7FD-4470-832D-F930F8CBE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062" y="5028873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A97189-B68B-465C-BEE0-5087653AAF48}"/>
              </a:ext>
            </a:extLst>
          </p:cNvPr>
          <p:cNvSpPr txBox="1"/>
          <p:nvPr/>
        </p:nvSpPr>
        <p:spPr>
          <a:xfrm>
            <a:off x="8733090" y="3704506"/>
            <a:ext cx="31469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Геополитические атаки</a:t>
            </a:r>
            <a:r>
              <a:rPr lang="en-US" sz="4000" dirty="0"/>
              <a:t>:</a:t>
            </a:r>
            <a:endParaRPr lang="ru-RU" sz="4000" dirty="0"/>
          </a:p>
          <a:p>
            <a:pPr algn="ctr"/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77110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21728-E510-4298-B330-F400F376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Фундаментальные принципы обеспечения кибербезопасности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2050" name="Picture 2" descr="Как защитить вашу конфиденциальность в Интернете, работая из дома!">
            <a:extLst>
              <a:ext uri="{FF2B5EF4-FFF2-40B4-BE49-F238E27FC236}">
                <a16:creationId xmlns:a16="http://schemas.microsoft.com/office/drawing/2014/main" id="{CE961423-CB9D-40CE-B213-E188AADC7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90" y="255746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CF22B7-B50E-4915-88CB-DAA2A5EC3FA9}"/>
              </a:ext>
            </a:extLst>
          </p:cNvPr>
          <p:cNvSpPr/>
          <p:nvPr/>
        </p:nvSpPr>
        <p:spPr>
          <a:xfrm>
            <a:off x="78205" y="1690688"/>
            <a:ext cx="52217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Конфиденциальность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E05CC9C-78E3-4498-867F-38535AB50B84}"/>
              </a:ext>
            </a:extLst>
          </p:cNvPr>
          <p:cNvSpPr/>
          <p:nvPr/>
        </p:nvSpPr>
        <p:spPr>
          <a:xfrm>
            <a:off x="5441085" y="1696703"/>
            <a:ext cx="30398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Целостность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2052" name="Picture 4" descr="Что такое целостность данных » Digitrode.ru">
            <a:extLst>
              <a:ext uri="{FF2B5EF4-FFF2-40B4-BE49-F238E27FC236}">
                <a16:creationId xmlns:a16="http://schemas.microsoft.com/office/drawing/2014/main" id="{6914BDB6-A994-4CA0-9D83-F60851938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603" y="2505074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Доступность – Бесплатные иконки: образование">
            <a:extLst>
              <a:ext uri="{FF2B5EF4-FFF2-40B4-BE49-F238E27FC236}">
                <a16:creationId xmlns:a16="http://schemas.microsoft.com/office/drawing/2014/main" id="{9CFFF715-6C46-4817-8C2C-667FFA66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738" y="250507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78FC99B-A248-423C-9873-4A08E629FEBE}"/>
              </a:ext>
            </a:extLst>
          </p:cNvPr>
          <p:cNvSpPr/>
          <p:nvPr/>
        </p:nvSpPr>
        <p:spPr>
          <a:xfrm>
            <a:off x="9200237" y="1690688"/>
            <a:ext cx="30355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Доступность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54587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2F07D-A349-4CD1-92B4-1D28D623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4501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Технические средства защиты</a:t>
            </a:r>
            <a:r>
              <a:rPr lang="en-US" b="1" dirty="0"/>
              <a:t>:</a:t>
            </a:r>
            <a:endParaRPr lang="ru-RU" dirty="0"/>
          </a:p>
        </p:txBody>
      </p:sp>
      <p:pic>
        <p:nvPicPr>
          <p:cNvPr id="3074" name="Picture 2" descr="Межсетевой экран — Википедия">
            <a:extLst>
              <a:ext uri="{FF2B5EF4-FFF2-40B4-BE49-F238E27FC236}">
                <a16:creationId xmlns:a16="http://schemas.microsoft.com/office/drawing/2014/main" id="{498204EC-CB7B-4EBC-9D45-EBD5CD6400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598" y="868332"/>
            <a:ext cx="3946906" cy="216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35EDDF-52DC-44A3-A637-DD242577D5CB}"/>
              </a:ext>
            </a:extLst>
          </p:cNvPr>
          <p:cNvSpPr txBox="1"/>
          <p:nvPr/>
        </p:nvSpPr>
        <p:spPr>
          <a:xfrm>
            <a:off x="2264130" y="1277479"/>
            <a:ext cx="2571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Firewall:</a:t>
            </a:r>
            <a:endParaRPr lang="ru-RU" sz="4000" dirty="0"/>
          </a:p>
        </p:txBody>
      </p:sp>
      <p:pic>
        <p:nvPicPr>
          <p:cNvPr id="3076" name="Picture 4" descr="IPS/IDS — системы обнаружения и предотвращения вторжений - Академия Selectel">
            <a:extLst>
              <a:ext uri="{FF2B5EF4-FFF2-40B4-BE49-F238E27FC236}">
                <a16:creationId xmlns:a16="http://schemas.microsoft.com/office/drawing/2014/main" id="{FB573A65-A13F-44F6-804C-6D800186B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294" y="4776112"/>
            <a:ext cx="4463514" cy="208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A3DFC54-7AC5-4585-99E7-9DE6B3DFE077}"/>
              </a:ext>
            </a:extLst>
          </p:cNvPr>
          <p:cNvSpPr/>
          <p:nvPr/>
        </p:nvSpPr>
        <p:spPr>
          <a:xfrm>
            <a:off x="1835801" y="4886645"/>
            <a:ext cx="57373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4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истемы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предотвращения вторжений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3078" name="Picture 6" descr="Сегментация сети для самых маленьких / Хабр">
            <a:extLst>
              <a:ext uri="{FF2B5EF4-FFF2-40B4-BE49-F238E27FC236}">
                <a16:creationId xmlns:a16="http://schemas.microsoft.com/office/drawing/2014/main" id="{C8272125-18C4-4DF1-946A-1093D8092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19277"/>
            <a:ext cx="4046101" cy="182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4C8256-9C0F-498E-B0D5-39912C1BFC00}"/>
              </a:ext>
            </a:extLst>
          </p:cNvPr>
          <p:cNvSpPr/>
          <p:nvPr/>
        </p:nvSpPr>
        <p:spPr>
          <a:xfrm>
            <a:off x="1706405" y="3388257"/>
            <a:ext cx="43187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Сегментация сети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50508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0D1C5-FBBF-4F4F-8BB8-2ECEC673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898" y="1069166"/>
            <a:ext cx="6409330" cy="1325563"/>
          </a:xfrm>
        </p:spPr>
        <p:txBody>
          <a:bodyPr/>
          <a:lstStyle/>
          <a:p>
            <a:r>
              <a:rPr lang="ru-RU" sz="4000" dirty="0"/>
              <a:t>Криптографическая</a:t>
            </a:r>
            <a:r>
              <a:rPr lang="ru-RU" dirty="0"/>
              <a:t> защита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20C2680-E871-470A-962B-EBF8DA38AFCF}"/>
              </a:ext>
            </a:extLst>
          </p:cNvPr>
          <p:cNvSpPr/>
          <p:nvPr/>
        </p:nvSpPr>
        <p:spPr>
          <a:xfrm>
            <a:off x="3148716" y="3212446"/>
            <a:ext cx="51219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доступом</a:t>
            </a:r>
            <a:endParaRPr lang="ru-RU" sz="4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39466A-C93C-4449-8EB2-2AA4CEDE43BB}"/>
              </a:ext>
            </a:extLst>
          </p:cNvPr>
          <p:cNvSpPr/>
          <p:nvPr/>
        </p:nvSpPr>
        <p:spPr>
          <a:xfrm>
            <a:off x="3118150" y="5263440"/>
            <a:ext cx="54535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конечных точек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4098" name="Picture 2" descr="EPP защита конечных точек">
            <a:extLst>
              <a:ext uri="{FF2B5EF4-FFF2-40B4-BE49-F238E27FC236}">
                <a16:creationId xmlns:a16="http://schemas.microsoft.com/office/drawing/2014/main" id="{E85DBE27-6E92-4FAE-9C65-F4FC5730E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609" y="474584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Эффективное управление доступом в компьютерной сети | новости | компания ZSC">
            <a:extLst>
              <a:ext uri="{FF2B5EF4-FFF2-40B4-BE49-F238E27FC236}">
                <a16:creationId xmlns:a16="http://schemas.microsoft.com/office/drawing/2014/main" id="{704AF306-72C6-426F-9B9A-923075413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65" y="2875243"/>
            <a:ext cx="269557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Криптографические средства защиты информации: как уберечь данные">
            <a:extLst>
              <a:ext uri="{FF2B5EF4-FFF2-40B4-BE49-F238E27FC236}">
                <a16:creationId xmlns:a16="http://schemas.microsoft.com/office/drawing/2014/main" id="{DFF6A992-E10A-4CEF-8DC9-87972841D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751" y="886674"/>
            <a:ext cx="3402497" cy="169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64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8C203-7A8D-4AAD-8046-42AEE955E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672" y="364512"/>
            <a:ext cx="10515600" cy="70788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Современные архитектурные подходы</a:t>
            </a:r>
            <a:r>
              <a:rPr lang="en-US" b="1" dirty="0"/>
              <a:t>:</a:t>
            </a:r>
            <a:br>
              <a:rPr lang="ru-RU" dirty="0"/>
            </a:br>
            <a:endParaRPr lang="ru-RU" dirty="0"/>
          </a:p>
        </p:txBody>
      </p:sp>
      <p:pic>
        <p:nvPicPr>
          <p:cNvPr id="5122" name="Picture 2" descr="Что такое Zero Trust? Модель безопасности / Хабр">
            <a:extLst>
              <a:ext uri="{FF2B5EF4-FFF2-40B4-BE49-F238E27FC236}">
                <a16:creationId xmlns:a16="http://schemas.microsoft.com/office/drawing/2014/main" id="{74DECAC9-652B-4AC5-A9D2-4AEDF5D4F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80"/>
          <a:stretch/>
        </p:blipFill>
        <p:spPr bwMode="auto">
          <a:xfrm>
            <a:off x="1840672" y="1932370"/>
            <a:ext cx="8378045" cy="420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D0EAB1-CE8F-470B-848D-D6EC921D55E1}"/>
              </a:ext>
            </a:extLst>
          </p:cNvPr>
          <p:cNvSpPr txBox="1"/>
          <p:nvPr/>
        </p:nvSpPr>
        <p:spPr>
          <a:xfrm>
            <a:off x="4848686" y="987858"/>
            <a:ext cx="24009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Zero Trust: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0289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A17A1-82A6-46CF-B5A1-CD0A9747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46" y="157307"/>
            <a:ext cx="10515600" cy="1325563"/>
          </a:xfrm>
        </p:spPr>
        <p:txBody>
          <a:bodyPr/>
          <a:lstStyle/>
          <a:p>
            <a:r>
              <a:rPr lang="ru-RU" b="1" dirty="0"/>
              <a:t>Организационные и правовые меры</a:t>
            </a:r>
            <a:r>
              <a:rPr lang="en-US" b="1" dirty="0"/>
              <a:t>: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3D7041-C9CB-4E6D-8B52-6DA1F3D11768}"/>
              </a:ext>
            </a:extLst>
          </p:cNvPr>
          <p:cNvSpPr/>
          <p:nvPr/>
        </p:nvSpPr>
        <p:spPr>
          <a:xfrm>
            <a:off x="401412" y="1128927"/>
            <a:ext cx="53928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политик ИБ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1028" name="Picture 4" descr="Политика информационной безопасности — опыт разработки и рекомендации / Хабр">
            <a:extLst>
              <a:ext uri="{FF2B5EF4-FFF2-40B4-BE49-F238E27FC236}">
                <a16:creationId xmlns:a16="http://schemas.microsoft.com/office/drawing/2014/main" id="{3A0EB857-B8C0-402D-AD16-405AA8F96F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14" y="1984034"/>
            <a:ext cx="540067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71B737E-EA1A-4093-8E2C-9DD0ECE718EF}"/>
              </a:ext>
            </a:extLst>
          </p:cNvPr>
          <p:cNvSpPr/>
          <p:nvPr/>
        </p:nvSpPr>
        <p:spPr>
          <a:xfrm>
            <a:off x="6574075" y="1128927"/>
            <a:ext cx="48859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Обучение персонала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1030" name="Picture 6" descr="Как обучение сотрудников может улучшить результаты бизнеса">
            <a:extLst>
              <a:ext uri="{FF2B5EF4-FFF2-40B4-BE49-F238E27FC236}">
                <a16:creationId xmlns:a16="http://schemas.microsoft.com/office/drawing/2014/main" id="{0EA3301F-F31F-45DF-8FA1-D44546C39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733" y="1864971"/>
            <a:ext cx="2552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722DED9-E074-48CF-85C8-E9987A8BEA60}"/>
              </a:ext>
            </a:extLst>
          </p:cNvPr>
          <p:cNvSpPr/>
          <p:nvPr/>
        </p:nvSpPr>
        <p:spPr>
          <a:xfrm>
            <a:off x="448914" y="4037773"/>
            <a:ext cx="58600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Соответствие стандартам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1032" name="Picture 8" descr="Знаки соответствия техническому регламенту сертификации продукции  требованиям ГОСТ Р - ООО «Астелс»">
            <a:extLst>
              <a:ext uri="{FF2B5EF4-FFF2-40B4-BE49-F238E27FC236}">
                <a16:creationId xmlns:a16="http://schemas.microsoft.com/office/drawing/2014/main" id="{1A37CCB7-5BA8-4D36-9432-C33B352DC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624" y="4897475"/>
            <a:ext cx="3119253" cy="180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Правовое регулирование - Маркетплейс юридических услуг">
            <a:extLst>
              <a:ext uri="{FF2B5EF4-FFF2-40B4-BE49-F238E27FC236}">
                <a16:creationId xmlns:a16="http://schemas.microsoft.com/office/drawing/2014/main" id="{29BA40EF-F130-41BE-AF5F-86BB23BE3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236" y="495761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0E3FB7-6166-4EFE-ABEB-BDFF5E3F83A4}"/>
              </a:ext>
            </a:extLst>
          </p:cNvPr>
          <p:cNvSpPr/>
          <p:nvPr/>
        </p:nvSpPr>
        <p:spPr>
          <a:xfrm>
            <a:off x="6477487" y="4037773"/>
            <a:ext cx="58523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Правовое регулирование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9591313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86</Words>
  <Application>Microsoft Office PowerPoint</Application>
  <PresentationFormat>Широкоэкранный</PresentationFormat>
  <Paragraphs>27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Основные угрозы кибербезопасности компьютерных систем:</vt:lpstr>
      <vt:lpstr>Направления киберугроз:</vt:lpstr>
      <vt:lpstr>Фундаментальные принципы обеспечения кибербезопасности:</vt:lpstr>
      <vt:lpstr>Технические средства защиты:</vt:lpstr>
      <vt:lpstr>Криптографическая защита:</vt:lpstr>
      <vt:lpstr>Современные архитектурные подходы: </vt:lpstr>
      <vt:lpstr>Организационные и правовые меры: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угрозы кибербезопасности компьютерных систем</dc:title>
  <dc:creator>Никита Бакшилов</dc:creator>
  <cp:lastModifiedBy>Никита Бакшилов</cp:lastModifiedBy>
  <cp:revision>2</cp:revision>
  <dcterms:created xsi:type="dcterms:W3CDTF">2026-01-27T02:17:59Z</dcterms:created>
  <dcterms:modified xsi:type="dcterms:W3CDTF">2026-02-26T23:34:33Z</dcterms:modified>
</cp:coreProperties>
</file>
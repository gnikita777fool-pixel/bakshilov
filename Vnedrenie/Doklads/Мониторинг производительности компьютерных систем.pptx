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7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6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4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3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8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47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3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9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2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1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01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D3DE8-E829-CAE1-C167-FF8C677A61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t="29670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E70E7-82F0-4DAC-8D33-67DCE46B3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6949" y="3522133"/>
            <a:ext cx="7974719" cy="2288382"/>
          </a:xfrm>
        </p:spPr>
        <p:txBody>
          <a:bodyPr anchor="t">
            <a:normAutofit/>
          </a:bodyPr>
          <a:lstStyle/>
          <a:p>
            <a:r>
              <a:rPr lang="ru-RU" sz="5000" dirty="0">
                <a:solidFill>
                  <a:schemeClr val="tx2"/>
                </a:solidFill>
              </a:rPr>
              <a:t>Мониторинг производительности компьютерных систем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58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A9BB8-CC89-4596-A48E-3017FF41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Ключевые метрики производительности</a:t>
            </a:r>
            <a:br>
              <a:rPr lang="ru-RU" dirty="0"/>
            </a:br>
            <a:endParaRPr lang="ru-RU" dirty="0"/>
          </a:p>
        </p:txBody>
      </p:sp>
      <p:pic>
        <p:nvPicPr>
          <p:cNvPr id="1026" name="Picture 2" descr="USE and RED Method | PagerTree">
            <a:extLst>
              <a:ext uri="{FF2B5EF4-FFF2-40B4-BE49-F238E27FC236}">
                <a16:creationId xmlns:a16="http://schemas.microsoft.com/office/drawing/2014/main" id="{31A7ABA9-8C0E-4EB7-98B2-FC2BD59093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345" y="1604244"/>
            <a:ext cx="5088578" cy="381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SE and RED Method | PagerTree">
            <a:extLst>
              <a:ext uri="{FF2B5EF4-FFF2-40B4-BE49-F238E27FC236}">
                <a16:creationId xmlns:a16="http://schemas.microsoft.com/office/drawing/2014/main" id="{EAEA7811-ADBA-45B5-8FC9-3F26B3195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79" y="1604244"/>
            <a:ext cx="5088577" cy="3811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09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735AE-7B14-495F-9FC0-FBDDE8EE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Ресурсы хоста (Сервер/Виртуальная машина)</a:t>
            </a:r>
          </a:p>
        </p:txBody>
      </p:sp>
      <p:pic>
        <p:nvPicPr>
          <p:cNvPr id="2050" name="Picture 2" descr="What Is a CPU, and What Does It Do?">
            <a:extLst>
              <a:ext uri="{FF2B5EF4-FFF2-40B4-BE49-F238E27FC236}">
                <a16:creationId xmlns:a16="http://schemas.microsoft.com/office/drawing/2014/main" id="{0D76AEAC-2410-4F1A-B4DF-4ACBB700C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29" y="2494931"/>
            <a:ext cx="3321132" cy="186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15D58C-04AA-457C-B7A6-625CFF20E34F}"/>
              </a:ext>
            </a:extLst>
          </p:cNvPr>
          <p:cNvSpPr txBox="1"/>
          <p:nvPr/>
        </p:nvSpPr>
        <p:spPr>
          <a:xfrm>
            <a:off x="1731266" y="1805926"/>
            <a:ext cx="1034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CPU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2" name="Picture 4" descr="ОЗУ – что это такое в компьютере или телефоне. Что такое оперативная память?">
            <a:extLst>
              <a:ext uri="{FF2B5EF4-FFF2-40B4-BE49-F238E27FC236}">
                <a16:creationId xmlns:a16="http://schemas.microsoft.com/office/drawing/2014/main" id="{08DC82CD-0146-40FC-B1A4-982FA38F1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07" y="2494931"/>
            <a:ext cx="2935185" cy="178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35373C-C79C-4F1C-90BC-6EDCC3013761}"/>
              </a:ext>
            </a:extLst>
          </p:cNvPr>
          <p:cNvSpPr txBox="1"/>
          <p:nvPr/>
        </p:nvSpPr>
        <p:spPr>
          <a:xfrm>
            <a:off x="5578870" y="1805926"/>
            <a:ext cx="1016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ОЗУ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3EB8659-9862-4C05-8541-551C1C54C9CC}"/>
              </a:ext>
            </a:extLst>
          </p:cNvPr>
          <p:cNvSpPr/>
          <p:nvPr/>
        </p:nvSpPr>
        <p:spPr>
          <a:xfrm>
            <a:off x="9159470" y="1800422"/>
            <a:ext cx="1811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DISK I/O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056" name="Picture 8" descr="Урок 2 Дисковая подсистема">
            <a:extLst>
              <a:ext uri="{FF2B5EF4-FFF2-40B4-BE49-F238E27FC236}">
                <a16:creationId xmlns:a16="http://schemas.microsoft.com/office/drawing/2014/main" id="{4A43985D-720C-4084-AD19-08840FA18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104" y="2494931"/>
            <a:ext cx="3386446" cy="190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Структура и ресурсы локальной сети факультета МИФ | mif.vspu.ru">
            <a:extLst>
              <a:ext uri="{FF2B5EF4-FFF2-40B4-BE49-F238E27FC236}">
                <a16:creationId xmlns:a16="http://schemas.microsoft.com/office/drawing/2014/main" id="{5335669D-9EDC-4550-A13E-72D6C13AC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07" y="4821382"/>
            <a:ext cx="2781708" cy="1924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786D45-382C-45DB-B429-3079FEDFC118}"/>
              </a:ext>
            </a:extLst>
          </p:cNvPr>
          <p:cNvSpPr txBox="1"/>
          <p:nvPr/>
        </p:nvSpPr>
        <p:spPr>
          <a:xfrm>
            <a:off x="5495514" y="4259307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+mj-lt"/>
              </a:rPr>
              <a:t>СЕТЬ</a:t>
            </a:r>
          </a:p>
        </p:txBody>
      </p:sp>
    </p:spTree>
    <p:extLst>
      <p:ext uri="{BB962C8B-B14F-4D97-AF65-F5344CB8AC3E}">
        <p14:creationId xmlns:p14="http://schemas.microsoft.com/office/powerpoint/2010/main" val="106340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616CE-9DB2-4D6C-A152-14CA2DA9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517" y="-264267"/>
            <a:ext cx="10722932" cy="1325563"/>
          </a:xfrm>
        </p:spPr>
        <p:txBody>
          <a:bodyPr/>
          <a:lstStyle/>
          <a:p>
            <a:pPr algn="ctr"/>
            <a:r>
              <a:rPr lang="ru-RU" dirty="0"/>
              <a:t>Прикладной уровень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44624-AD18-45E5-81C4-CEA49410CB60}"/>
              </a:ext>
            </a:extLst>
          </p:cNvPr>
          <p:cNvSpPr txBox="1"/>
          <p:nvPr/>
        </p:nvSpPr>
        <p:spPr>
          <a:xfrm>
            <a:off x="3383344" y="1105287"/>
            <a:ext cx="2032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RPS/QPS 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074" name="Picture 2" descr="Нагрузочное тестирование IT-инфраструктуры: зачем оно нужно и как проходить  — ITSumma">
            <a:extLst>
              <a:ext uri="{FF2B5EF4-FFF2-40B4-BE49-F238E27FC236}">
                <a16:creationId xmlns:a16="http://schemas.microsoft.com/office/drawing/2014/main" id="{FE142451-1DD1-473B-8EA4-7EB83795B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49" y="1773791"/>
            <a:ext cx="3653642" cy="159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Когда повторы убивают: метастабильные отказы в распределённых системах /  Хабр">
            <a:extLst>
              <a:ext uri="{FF2B5EF4-FFF2-40B4-BE49-F238E27FC236}">
                <a16:creationId xmlns:a16="http://schemas.microsoft.com/office/drawing/2014/main" id="{7CCDC374-BBBF-4C20-AEA8-8E00A22DA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809" y="1861771"/>
            <a:ext cx="2768930" cy="141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atency versus Response Time | Scalable Developer">
            <a:extLst>
              <a:ext uri="{FF2B5EF4-FFF2-40B4-BE49-F238E27FC236}">
                <a16:creationId xmlns:a16="http://schemas.microsoft.com/office/drawing/2014/main" id="{8F02A274-F811-4BAB-98B6-6AF10133A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38" y="4207239"/>
            <a:ext cx="3933825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D72284-B314-4A3F-82B2-9D429D6C4BF7}"/>
              </a:ext>
            </a:extLst>
          </p:cNvPr>
          <p:cNvSpPr txBox="1"/>
          <p:nvPr/>
        </p:nvSpPr>
        <p:spPr>
          <a:xfrm>
            <a:off x="1677256" y="3494745"/>
            <a:ext cx="3100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Response time 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080" name="Picture 8" descr="SMART Seek Error Rate, что это такое и почему на одном из моих дисков  показывает 100, а на другом 200? : r/DataHoarder">
            <a:extLst>
              <a:ext uri="{FF2B5EF4-FFF2-40B4-BE49-F238E27FC236}">
                <a16:creationId xmlns:a16="http://schemas.microsoft.com/office/drawing/2014/main" id="{1350F2D1-5030-422E-B2A3-F74A86FBF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203" y="1773791"/>
            <a:ext cx="3330784" cy="187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885C15-C104-4C1A-A519-0374485495E7}"/>
              </a:ext>
            </a:extLst>
          </p:cNvPr>
          <p:cNvSpPr txBox="1"/>
          <p:nvPr/>
        </p:nvSpPr>
        <p:spPr>
          <a:xfrm>
            <a:off x="9136071" y="1061296"/>
            <a:ext cx="2114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Error rate 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3082" name="Picture 10" descr="Пул строк в Java | String pool | Фрагмент лекции JavaRush - университета">
            <a:extLst>
              <a:ext uri="{FF2B5EF4-FFF2-40B4-BE49-F238E27FC236}">
                <a16:creationId xmlns:a16="http://schemas.microsoft.com/office/drawing/2014/main" id="{104C5017-84FF-4518-A38B-75ACE49DC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479" y="4445174"/>
            <a:ext cx="3641766" cy="204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2FFA70C-4919-4212-BE17-7C01C9787001}"/>
              </a:ext>
            </a:extLst>
          </p:cNvPr>
          <p:cNvSpPr txBox="1"/>
          <p:nvPr/>
        </p:nvSpPr>
        <p:spPr>
          <a:xfrm>
            <a:off x="6913406" y="3772419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Saturation 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441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37EEB-2E76-4C33-9513-6DE1DC83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88" y="-56450"/>
            <a:ext cx="10722932" cy="1325563"/>
          </a:xfrm>
        </p:spPr>
        <p:txBody>
          <a:bodyPr/>
          <a:lstStyle/>
          <a:p>
            <a:pPr algn="ctr"/>
            <a:r>
              <a:rPr lang="ru-RU" dirty="0"/>
              <a:t>Базы данных</a:t>
            </a:r>
          </a:p>
        </p:txBody>
      </p:sp>
      <p:pic>
        <p:nvPicPr>
          <p:cNvPr id="4098" name="Picture 2" descr="What is a slow SQL query? | PostgresAI">
            <a:extLst>
              <a:ext uri="{FF2B5EF4-FFF2-40B4-BE49-F238E27FC236}">
                <a16:creationId xmlns:a16="http://schemas.microsoft.com/office/drawing/2014/main" id="{2A394808-81D8-402E-A0BA-ED5720873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88" y="1658854"/>
            <a:ext cx="40386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CADDBA-3DDC-4DBC-841E-233478BE7852}"/>
              </a:ext>
            </a:extLst>
          </p:cNvPr>
          <p:cNvSpPr txBox="1"/>
          <p:nvPr/>
        </p:nvSpPr>
        <p:spPr>
          <a:xfrm>
            <a:off x="1092179" y="976725"/>
            <a:ext cx="28280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Slow queries 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102" name="Picture 6" descr="Ошибка The number of connections to this computer is limited | Настройка  серверов windows и linux">
            <a:extLst>
              <a:ext uri="{FF2B5EF4-FFF2-40B4-BE49-F238E27FC236}">
                <a16:creationId xmlns:a16="http://schemas.microsoft.com/office/drawing/2014/main" id="{12295D30-2F31-41F0-9D72-94DAC57C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078" y="1712293"/>
            <a:ext cx="3393725" cy="313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5235FA-7C75-41B4-A22D-AEF241CC11F6}"/>
              </a:ext>
            </a:extLst>
          </p:cNvPr>
          <p:cNvSpPr txBox="1"/>
          <p:nvPr/>
        </p:nvSpPr>
        <p:spPr>
          <a:xfrm>
            <a:off x="5581129" y="1074078"/>
            <a:ext cx="2589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Connections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104" name="Picture 8" descr="Руководство по взаимоблокировкам - SQL Server | Microsoft Learn">
            <a:extLst>
              <a:ext uri="{FF2B5EF4-FFF2-40B4-BE49-F238E27FC236}">
                <a16:creationId xmlns:a16="http://schemas.microsoft.com/office/drawing/2014/main" id="{3EB595A7-FCBE-49DB-A48C-01DFE1DC9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3" y="3429000"/>
            <a:ext cx="455295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4BFA2F-C247-469E-8D5E-C6E88D51B82C}"/>
              </a:ext>
            </a:extLst>
          </p:cNvPr>
          <p:cNvSpPr txBox="1"/>
          <p:nvPr/>
        </p:nvSpPr>
        <p:spPr>
          <a:xfrm>
            <a:off x="800432" y="2792329"/>
            <a:ext cx="34115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Locks/Deadlocks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4108" name="Picture 12" descr="Репликация данных">
            <a:extLst>
              <a:ext uri="{FF2B5EF4-FFF2-40B4-BE49-F238E27FC236}">
                <a16:creationId xmlns:a16="http://schemas.microsoft.com/office/drawing/2014/main" id="{818ED643-9A19-459C-8894-C711F31A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0147" y="1712293"/>
            <a:ext cx="2574965" cy="291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4CBF14-5C99-4F6F-A01F-4368B49EE093}"/>
              </a:ext>
            </a:extLst>
          </p:cNvPr>
          <p:cNvSpPr txBox="1"/>
          <p:nvPr/>
        </p:nvSpPr>
        <p:spPr>
          <a:xfrm>
            <a:off x="8936293" y="1074079"/>
            <a:ext cx="2962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Replication lag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458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713C3-9B37-4BB8-A711-7357BC68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722932" cy="1325563"/>
          </a:xfrm>
        </p:spPr>
        <p:txBody>
          <a:bodyPr/>
          <a:lstStyle/>
          <a:p>
            <a:pPr algn="ctr"/>
            <a:r>
              <a:rPr lang="ru-RU" dirty="0"/>
              <a:t>Современные инструменты мониторинга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68066-185D-4980-9849-D9F90BF1AD68}"/>
              </a:ext>
            </a:extLst>
          </p:cNvPr>
          <p:cNvSpPr txBox="1"/>
          <p:nvPr/>
        </p:nvSpPr>
        <p:spPr>
          <a:xfrm>
            <a:off x="742206" y="2313278"/>
            <a:ext cx="2499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>
                <a:solidFill>
                  <a:schemeClr val="bg1"/>
                </a:solidFill>
                <a:latin typeface="+mj-lt"/>
              </a:rPr>
              <a:t>Prometheus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9F6EF78-4E22-43D0-8F36-ED0254BA70D3}"/>
              </a:ext>
            </a:extLst>
          </p:cNvPr>
          <p:cNvSpPr txBox="1">
            <a:spLocks/>
          </p:cNvSpPr>
          <p:nvPr/>
        </p:nvSpPr>
        <p:spPr>
          <a:xfrm>
            <a:off x="783770" y="1196975"/>
            <a:ext cx="9861971" cy="1014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/>
              <a:t>Сбор и хранение метрик</a:t>
            </a:r>
          </a:p>
        </p:txBody>
      </p:sp>
      <p:pic>
        <p:nvPicPr>
          <p:cNvPr id="5122" name="Picture 2" descr="Полное руководство по Prometheus в 2019 году / Хабр">
            <a:extLst>
              <a:ext uri="{FF2B5EF4-FFF2-40B4-BE49-F238E27FC236}">
                <a16:creationId xmlns:a16="http://schemas.microsoft.com/office/drawing/2014/main" id="{E34B556D-41FC-4C0A-B848-4C6B94B65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7" y="3092146"/>
            <a:ext cx="3374386" cy="273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VictoriaMetrics Operator">
            <a:extLst>
              <a:ext uri="{FF2B5EF4-FFF2-40B4-BE49-F238E27FC236}">
                <a16:creationId xmlns:a16="http://schemas.microsoft.com/office/drawing/2014/main" id="{90DFFA9B-5D2D-4596-A4EF-21D451E9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30" y="3115866"/>
            <a:ext cx="3380739" cy="269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8FB0AE-4AE0-4A57-AED3-303CB636F369}"/>
              </a:ext>
            </a:extLst>
          </p:cNvPr>
          <p:cNvSpPr txBox="1"/>
          <p:nvPr/>
        </p:nvSpPr>
        <p:spPr>
          <a:xfrm>
            <a:off x="4653147" y="2359585"/>
            <a:ext cx="3054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+mj-lt"/>
              </a:rPr>
              <a:t>VictoriaMetrics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126" name="Picture 6" descr="Visualize Time-Series Data with Open Source Grafana and InfluxDB - The New  Stack">
            <a:extLst>
              <a:ext uri="{FF2B5EF4-FFF2-40B4-BE49-F238E27FC236}">
                <a16:creationId xmlns:a16="http://schemas.microsoft.com/office/drawing/2014/main" id="{D418CD1E-3DD6-450C-8166-6ACBEDFB0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333" y="3194462"/>
            <a:ext cx="4007434" cy="220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C9C542-4656-4B9B-8911-5799834EAA94}"/>
              </a:ext>
            </a:extLst>
          </p:cNvPr>
          <p:cNvSpPr txBox="1"/>
          <p:nvPr/>
        </p:nvSpPr>
        <p:spPr>
          <a:xfrm>
            <a:off x="8575962" y="2410743"/>
            <a:ext cx="1789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+mj-lt"/>
              </a:rPr>
              <a:t>InfluxDB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379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FC076-FF88-4177-B7A4-D4BBC7770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075" y="-282080"/>
            <a:ext cx="10722932" cy="1325563"/>
          </a:xfrm>
        </p:spPr>
        <p:txBody>
          <a:bodyPr/>
          <a:lstStyle/>
          <a:p>
            <a:pPr algn="ctr"/>
            <a:r>
              <a:rPr lang="ru-RU" dirty="0"/>
              <a:t>Визуализация и </a:t>
            </a:r>
            <a:r>
              <a:rPr lang="ru-RU" dirty="0" err="1"/>
              <a:t>дашборды</a:t>
            </a:r>
            <a:endParaRPr lang="ru-RU" dirty="0"/>
          </a:p>
        </p:txBody>
      </p:sp>
      <p:pic>
        <p:nvPicPr>
          <p:cNvPr id="6146" name="Picture 2" descr="Grafana OSS | Leading observability tool for visualizations &amp; dashboards">
            <a:extLst>
              <a:ext uri="{FF2B5EF4-FFF2-40B4-BE49-F238E27FC236}">
                <a16:creationId xmlns:a16="http://schemas.microsoft.com/office/drawing/2014/main" id="{A32FA41D-CCAF-457B-83AD-99C91E890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65" y="1694946"/>
            <a:ext cx="5298374" cy="296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C74B0A-3E17-4A12-A8F5-BA6ECE397CA8}"/>
              </a:ext>
            </a:extLst>
          </p:cNvPr>
          <p:cNvSpPr txBox="1"/>
          <p:nvPr/>
        </p:nvSpPr>
        <p:spPr>
          <a:xfrm>
            <a:off x="1692232" y="1043483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Grafana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4CD24-747D-46A9-8545-757FC70F2088}"/>
              </a:ext>
            </a:extLst>
          </p:cNvPr>
          <p:cNvSpPr txBox="1"/>
          <p:nvPr/>
        </p:nvSpPr>
        <p:spPr>
          <a:xfrm>
            <a:off x="7878998" y="982127"/>
            <a:ext cx="1455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Kibana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154" name="Picture 10" descr="Elastic Stack (ELK) – настройка, внедрение и мониторинг | Gals Software">
            <a:extLst>
              <a:ext uri="{FF2B5EF4-FFF2-40B4-BE49-F238E27FC236}">
                <a16:creationId xmlns:a16="http://schemas.microsoft.com/office/drawing/2014/main" id="{3C916A96-8B91-4CC4-931E-3C5144325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311" y="1643017"/>
            <a:ext cx="5975658" cy="372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34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0281C-A6F9-4E75-9180-3ED87439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90" y="-252392"/>
            <a:ext cx="10722932" cy="1325563"/>
          </a:xfrm>
        </p:spPr>
        <p:txBody>
          <a:bodyPr/>
          <a:lstStyle/>
          <a:p>
            <a:pPr algn="ctr"/>
            <a:r>
              <a:rPr lang="ru-RU" dirty="0" err="1"/>
              <a:t>Трейсинг</a:t>
            </a:r>
            <a:r>
              <a:rPr lang="ru-RU" dirty="0"/>
              <a:t> и логирование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D991B-E3FF-43ED-8C9E-3B5EE128AA1E}"/>
              </a:ext>
            </a:extLst>
          </p:cNvPr>
          <p:cNvSpPr txBox="1"/>
          <p:nvPr/>
        </p:nvSpPr>
        <p:spPr>
          <a:xfrm>
            <a:off x="391351" y="1191946"/>
            <a:ext cx="3159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  <a:latin typeface="+mj-lt"/>
              </a:rPr>
              <a:t>OpenTelemetry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66449-D167-46DD-B113-912F8423F179}"/>
              </a:ext>
            </a:extLst>
          </p:cNvPr>
          <p:cNvSpPr txBox="1"/>
          <p:nvPr/>
        </p:nvSpPr>
        <p:spPr>
          <a:xfrm>
            <a:off x="5335978" y="1310721"/>
            <a:ext cx="1382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Jaeger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172" name="Picture 4" descr="OpenTelemetry: что это и как улучшить мониторинг сервисов">
            <a:extLst>
              <a:ext uri="{FF2B5EF4-FFF2-40B4-BE49-F238E27FC236}">
                <a16:creationId xmlns:a16="http://schemas.microsoft.com/office/drawing/2014/main" id="{520AF253-B8ED-4582-84AB-A9B622C18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81" y="1895496"/>
            <a:ext cx="3502210" cy="306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Jaeger Opentracing и Microservices в реальном проекте на PHP и Golang / Хабр">
            <a:extLst>
              <a:ext uri="{FF2B5EF4-FFF2-40B4-BE49-F238E27FC236}">
                <a16:creationId xmlns:a16="http://schemas.microsoft.com/office/drawing/2014/main" id="{D1060FFD-96BC-4239-8996-2DDA08D7C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784" y="2275571"/>
            <a:ext cx="3957408" cy="211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777150-0B7A-484D-86AE-66F2C5475F99}"/>
              </a:ext>
            </a:extLst>
          </p:cNvPr>
          <p:cNvSpPr txBox="1"/>
          <p:nvPr/>
        </p:nvSpPr>
        <p:spPr>
          <a:xfrm>
            <a:off x="9704118" y="1381983"/>
            <a:ext cx="9765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Loki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176" name="Picture 8" descr="Логировали, логировали, да вылогировали. Почему мы сменили EBK на Loki /  Хабр">
            <a:extLst>
              <a:ext uri="{FF2B5EF4-FFF2-40B4-BE49-F238E27FC236}">
                <a16:creationId xmlns:a16="http://schemas.microsoft.com/office/drawing/2014/main" id="{77F831F2-A569-4B89-8BA0-6B595B385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847" y="2125952"/>
            <a:ext cx="3904199" cy="283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486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8A164-154D-4A9D-BE6C-D8F70A68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452" y="-121763"/>
            <a:ext cx="10722932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 err="1"/>
              <a:t>AIOps</a:t>
            </a:r>
            <a:r>
              <a:rPr lang="ru-RU" sz="3600" dirty="0"/>
              <a:t> и предиктивная аналитика</a:t>
            </a:r>
          </a:p>
        </p:txBody>
      </p:sp>
      <p:pic>
        <p:nvPicPr>
          <p:cNvPr id="8194" name="Picture 2" descr="О профессии AIOps: модно-молодежно, денежно, но пока на нее не учат / Хабр">
            <a:extLst>
              <a:ext uri="{FF2B5EF4-FFF2-40B4-BE49-F238E27FC236}">
                <a16:creationId xmlns:a16="http://schemas.microsoft.com/office/drawing/2014/main" id="{F4E4CC6F-B600-4698-921E-41A55BBF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064" y="1171813"/>
            <a:ext cx="7226135" cy="480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091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32B49-EBA8-481C-AD59-99051D787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-252392"/>
            <a:ext cx="10722932" cy="1325563"/>
          </a:xfrm>
        </p:spPr>
        <p:txBody>
          <a:bodyPr/>
          <a:lstStyle/>
          <a:p>
            <a:pPr algn="ctr"/>
            <a:r>
              <a:rPr lang="ru-RU" dirty="0"/>
              <a:t>Стратегии предотвращения сбоев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61AF47B-6A4D-4F78-AD59-B1458E19A359}"/>
              </a:ext>
            </a:extLst>
          </p:cNvPr>
          <p:cNvSpPr txBox="1">
            <a:spLocks/>
          </p:cNvSpPr>
          <p:nvPr/>
        </p:nvSpPr>
        <p:spPr>
          <a:xfrm>
            <a:off x="670956" y="410389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/>
              <a:t>Умное </a:t>
            </a:r>
            <a:r>
              <a:rPr lang="ru-RU" sz="3600" dirty="0" err="1"/>
              <a:t>алертинг</a:t>
            </a:r>
            <a:r>
              <a:rPr lang="ru-RU" sz="3600" dirty="0"/>
              <a:t> (</a:t>
            </a:r>
            <a:r>
              <a:rPr lang="ru-RU" sz="3600" dirty="0" err="1"/>
              <a:t>Alerting</a:t>
            </a:r>
            <a:r>
              <a:rPr lang="ru-RU" sz="3600" dirty="0"/>
              <a:t>)</a:t>
            </a:r>
          </a:p>
        </p:txBody>
      </p:sp>
      <p:pic>
        <p:nvPicPr>
          <p:cNvPr id="9218" name="Picture 2" descr="Алертинг и оповещения: настройка без лишних срабатываний">
            <a:extLst>
              <a:ext uri="{FF2B5EF4-FFF2-40B4-BE49-F238E27FC236}">
                <a16:creationId xmlns:a16="http://schemas.microsoft.com/office/drawing/2014/main" id="{86D2415F-DEFB-48FF-AA4A-014A98277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939" y="1949262"/>
            <a:ext cx="6337465" cy="330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92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A25C38-A0C3-4FC0-803F-D14115253A7B}"/>
              </a:ext>
            </a:extLst>
          </p:cNvPr>
          <p:cNvSpPr txBox="1">
            <a:spLocks/>
          </p:cNvSpPr>
          <p:nvPr/>
        </p:nvSpPr>
        <p:spPr>
          <a:xfrm>
            <a:off x="734534" y="-308068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/>
              <a:t>Синтетический мониторинг</a:t>
            </a:r>
          </a:p>
        </p:txBody>
      </p:sp>
      <p:pic>
        <p:nvPicPr>
          <p:cNvPr id="10242" name="Picture 2" descr="Синтетический мониторинг | Pingera">
            <a:extLst>
              <a:ext uri="{FF2B5EF4-FFF2-40B4-BE49-F238E27FC236}">
                <a16:creationId xmlns:a16="http://schemas.microsoft.com/office/drawing/2014/main" id="{1815B187-A939-4BD6-97FC-8667D7573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809" y="1017495"/>
            <a:ext cx="7415151" cy="433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8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9625A-F411-46B6-BCC6-A80801E3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51" y="-347394"/>
            <a:ext cx="10722932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 err="1"/>
              <a:t>Capacity</a:t>
            </a:r>
            <a:r>
              <a:rPr lang="ru-RU" sz="3600" dirty="0"/>
              <a:t> </a:t>
            </a:r>
            <a:r>
              <a:rPr lang="ru-RU" sz="3600" dirty="0" err="1"/>
              <a:t>Planning</a:t>
            </a:r>
            <a:r>
              <a:rPr lang="ru-RU" sz="3600" dirty="0"/>
              <a:t> </a:t>
            </a:r>
          </a:p>
        </p:txBody>
      </p:sp>
      <p:pic>
        <p:nvPicPr>
          <p:cNvPr id="11268" name="Picture 4" descr="Capacity Planning для сети">
            <a:extLst>
              <a:ext uri="{FF2B5EF4-FFF2-40B4-BE49-F238E27FC236}">
                <a16:creationId xmlns:a16="http://schemas.microsoft.com/office/drawing/2014/main" id="{D6F29703-E3EC-4D7B-88F4-16866CD7A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860" y="1359911"/>
            <a:ext cx="7143750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891293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80</Words>
  <Application>Microsoft Office PowerPoint</Application>
  <PresentationFormat>Широкоэкранный</PresentationFormat>
  <Paragraphs>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Posterama</vt:lpstr>
      <vt:lpstr>SineVTI</vt:lpstr>
      <vt:lpstr>Мониторинг производительности компьютерных систем</vt:lpstr>
      <vt:lpstr>Ключевые метрики производительности </vt:lpstr>
      <vt:lpstr>Ресурсы хоста (Сервер/Виртуальная машина)</vt:lpstr>
      <vt:lpstr>Прикладной уровень </vt:lpstr>
      <vt:lpstr>Базы данных</vt:lpstr>
      <vt:lpstr>Современные инструменты мониторинга </vt:lpstr>
      <vt:lpstr>Визуализация и дашборды</vt:lpstr>
      <vt:lpstr>Трейсинг и логирование</vt:lpstr>
      <vt:lpstr>AIOps и предиктивная аналитика</vt:lpstr>
      <vt:lpstr>Стратегии предотвращения сбоев</vt:lpstr>
      <vt:lpstr>Презентация PowerPoint</vt:lpstr>
      <vt:lpstr>Capacity Planning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производительности компьютерных систем</dc:title>
  <dc:creator>Никита Бакшилов</dc:creator>
  <cp:lastModifiedBy>Никита Бакшилов</cp:lastModifiedBy>
  <cp:revision>2</cp:revision>
  <dcterms:created xsi:type="dcterms:W3CDTF">2026-04-23T04:45:14Z</dcterms:created>
  <dcterms:modified xsi:type="dcterms:W3CDTF">2026-04-23T05:22:46Z</dcterms:modified>
</cp:coreProperties>
</file>
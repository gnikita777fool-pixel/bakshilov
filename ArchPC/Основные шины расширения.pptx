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57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AF998-5F16-4118-8DDD-1E965CA11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C5F38F-9557-473E-B190-8F5667547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BF6596-FABA-4C0D-B80C-FBF79B9DF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4B02-B89F-4890-901A-6BF1B9CF819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E8C02E-372E-46EE-BA57-EF203AD5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A05328-5CD8-49A1-8387-D232E87A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F71B-5386-4D19-956A-21BA9E47D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01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DF0E7-4D64-4BB5-8016-AC0C5B4D3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E8C02E-7EAE-4C9A-A61C-F3E254ED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21B171-9EEB-42C2-8D7B-256EB78B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4B02-B89F-4890-901A-6BF1B9CF819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A06613-DEF9-4CFA-8B7F-54D0F3F7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F0BB65-F46B-4191-95CC-EE51E06A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F71B-5386-4D19-956A-21BA9E47D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81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25FF9D-A097-49EA-814D-D4D933193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31F9C1-97D8-422D-948E-C0B978EE0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483A4B-0A7D-457B-9343-202DE4B8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4B02-B89F-4890-901A-6BF1B9CF819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CDEC4F-E7A7-431D-A920-0BDCF97B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D45799-54BA-43DD-AF8C-69CAD77D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F71B-5386-4D19-956A-21BA9E47D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196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3A9C5-E7A0-4475-8C1F-E1CF4749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E66543-C22D-4665-AEEB-8672149F0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B3B270-6C39-4CBF-8320-64F47E558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75CBF4-1D96-4CD2-B499-C023116B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4B02-B89F-4890-901A-6BF1B9CF819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894365-6A93-48EB-A1E3-09E92F70B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F181AA-8D73-4CE6-A191-2C18E1091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F71B-5386-4D19-956A-21BA9E47D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923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B2CA5-BAC7-4EA9-9922-A6DACD72D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C93735-ADAD-4913-961D-980379029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78F46B-2A82-4BFB-A635-4E724FA66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BE8B28F-BA76-4556-8310-10B49E90F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1C370BF-9F9A-495A-9E5A-A4A441D1A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FA2DAE8-64BB-4A87-8890-B751C55B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4B02-B89F-4890-901A-6BF1B9CF819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2D16D7-5D10-438B-862E-871B2A07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C314ED8-DC29-4131-B3D1-2ACECDAF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F71B-5386-4D19-956A-21BA9E47D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459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69216-5B00-4F4C-99B6-C316731B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A781AA6-A909-4705-81E6-EBBC9F2B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4B02-B89F-4890-901A-6BF1B9CF819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EF2928F-EA96-4559-AEF8-7397C816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39EBC7-CE09-4B5C-B483-EE878903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F71B-5386-4D19-956A-21BA9E47D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19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714B63-D457-48A6-AA04-B5076722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4B02-B89F-4890-901A-6BF1B9CF819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6718F88-ACDB-4DF0-A173-10E03600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FA5535-910D-4939-9E66-B48A11FD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F71B-5386-4D19-956A-21BA9E47D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63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7875E-6A65-4F85-8DF0-6C8B477FC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950DF6-BD83-4EE0-85ED-19EA6B746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E61A14-710F-43FA-BD1C-F1695892B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63A836-F068-410E-9D9B-945A9769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4B02-B89F-4890-901A-6BF1B9CF819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BCAB3A-C050-4465-9615-236B5054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A34695-902A-49D8-A41B-D3A31CA0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F71B-5386-4D19-956A-21BA9E47D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906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714D0E-AE8C-4459-88B1-1CB8DBAF4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600C181-A9B3-4EE5-913D-40163C6B1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B37459-9AE4-46EB-90F7-0AD5BCF65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398169-A8D0-4B01-81B4-B6C2BAD88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4B02-B89F-4890-901A-6BF1B9CF819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08A004-688D-46F6-8A5E-6B2297D7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06EBFE-3D14-4D2D-B814-B7BFA46E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F71B-5386-4D19-956A-21BA9E47D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741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B604E5-0147-4830-B1A9-1F32AFC4E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9518FEF-AD61-41E1-A5EC-1222A43BF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166EC3-0EB9-4C24-B398-5D39981AD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4B02-B89F-4890-901A-6BF1B9CF819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A14EF2-CC5B-43A8-9012-18D19609D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6063E4-97E9-4AF1-91D7-85DA2F04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F71B-5386-4D19-956A-21BA9E47D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013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926A94-7434-4886-B780-DC49A4F3B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32E43C-60A3-4AAB-B1AE-38D9C449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2CE310-3989-4BDA-92D4-C1C4FDE8F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4B02-B89F-4890-901A-6BF1B9CF819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79280B-F980-4900-8B96-FDECAC61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C986E5-A741-4EE6-8B1E-37EC3859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F71B-5386-4D19-956A-21BA9E47D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43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AAA61-69D8-44D7-A4E0-ADB61936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1DF773-BE08-425F-95FD-CA00F5043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39E7C6-C598-4F3D-83A6-32E249CE0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24B02-B89F-4890-901A-6BF1B9CF8195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7082D1-1233-49EF-89BF-1E9634DB1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DF4368-E7FA-4290-A303-0FFCA542E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DF71B-5386-4D19-956A-21BA9E47D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58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C4F1483-8B77-4E8E-8C18-1C9EE5122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5A265-A6F1-4420-A600-9857A22D8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6858" y="645056"/>
            <a:ext cx="7018283" cy="1696929"/>
          </a:xfrm>
        </p:spPr>
        <p:txBody>
          <a:bodyPr>
            <a:noAutofit/>
          </a:bodyPr>
          <a:lstStyle/>
          <a:p>
            <a:r>
              <a:rPr lang="ru-RU" sz="5400" dirty="0">
                <a:latin typeface="Arial Black" panose="020B0A0402010202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Основные шины расширения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E74D73F-B1BE-498F-9F45-A7CD41F765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6" t="4807" r="3444" b="3593"/>
          <a:stretch/>
        </p:blipFill>
        <p:spPr bwMode="auto">
          <a:xfrm>
            <a:off x="3489960" y="2764238"/>
            <a:ext cx="5212079" cy="303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16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Picture background">
            <a:extLst>
              <a:ext uri="{FF2B5EF4-FFF2-40B4-BE49-F238E27FC236}">
                <a16:creationId xmlns:a16="http://schemas.microsoft.com/office/drawing/2014/main" id="{A9B22272-6BE3-41DF-975B-8AF26F2D0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C57A619-8711-4088-900E-B7E117BA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656"/>
            <a:ext cx="11899392" cy="463931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Arial Black" panose="020B0A04020102020204" pitchFamily="34" charset="0"/>
              </a:rPr>
              <a:t>2. Основные шины расширения: эволюция и характеристики</a:t>
            </a:r>
            <a:endParaRPr lang="ru-RU" dirty="0">
              <a:latin typeface="Arial Black" panose="020B0A04020102020204" pitchFamily="34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106BC0B2-7D17-411D-8322-0AA1C681F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612018"/>
              </p:ext>
            </p:extLst>
          </p:nvPr>
        </p:nvGraphicFramePr>
        <p:xfrm>
          <a:off x="2308288" y="1047242"/>
          <a:ext cx="6917055" cy="58107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6150">
                  <a:extLst>
                    <a:ext uri="{9D8B030D-6E8A-4147-A177-3AD203B41FA5}">
                      <a16:colId xmlns:a16="http://schemas.microsoft.com/office/drawing/2014/main" val="3518287943"/>
                    </a:ext>
                  </a:extLst>
                </a:gridCol>
                <a:gridCol w="774065">
                  <a:extLst>
                    <a:ext uri="{9D8B030D-6E8A-4147-A177-3AD203B41FA5}">
                      <a16:colId xmlns:a16="http://schemas.microsoft.com/office/drawing/2014/main" val="1518294571"/>
                    </a:ext>
                  </a:extLst>
                </a:gridCol>
                <a:gridCol w="1286510">
                  <a:extLst>
                    <a:ext uri="{9D8B030D-6E8A-4147-A177-3AD203B41FA5}">
                      <a16:colId xmlns:a16="http://schemas.microsoft.com/office/drawing/2014/main" val="416503802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84928663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744398029"/>
                    </a:ext>
                  </a:extLst>
                </a:gridCol>
                <a:gridCol w="2173605">
                  <a:extLst>
                    <a:ext uri="{9D8B030D-6E8A-4147-A177-3AD203B41FA5}">
                      <a16:colId xmlns:a16="http://schemas.microsoft.com/office/drawing/2014/main" val="749345974"/>
                    </a:ext>
                  </a:extLst>
                </a:gridCol>
              </a:tblGrid>
              <a:tr h="6108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Шина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Год появления</a:t>
                      </a:r>
                      <a:r>
                        <a:rPr lang="en-US" sz="1200" dirty="0">
                          <a:effectLst/>
                        </a:rPr>
                        <a:t>: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Разрядность</a:t>
                      </a:r>
                      <a:r>
                        <a:rPr lang="en-US" sz="1200" dirty="0">
                          <a:effectLst/>
                        </a:rPr>
                        <a:t>: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Тактовая частота</a:t>
                      </a:r>
                      <a:r>
                        <a:rPr lang="en-US" sz="1200" dirty="0">
                          <a:effectLst/>
                        </a:rPr>
                        <a:t>: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Пропускная способность</a:t>
                      </a:r>
                      <a:r>
                        <a:rPr lang="en-US" sz="1200" dirty="0">
                          <a:effectLst/>
                        </a:rPr>
                        <a:t>: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Особенности</a:t>
                      </a:r>
                      <a:r>
                        <a:rPr lang="en-US" sz="1200" dirty="0">
                          <a:effectLst/>
                        </a:rPr>
                        <a:t>:</a:t>
                      </a:r>
                      <a:br>
                        <a:rPr lang="ru-RU" sz="1200" dirty="0">
                          <a:effectLst/>
                        </a:rPr>
                      </a:b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39700711"/>
                  </a:ext>
                </a:extLst>
              </a:tr>
              <a:tr h="9350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ISA (</a:t>
                      </a:r>
                      <a:r>
                        <a:rPr lang="ru-RU" sz="1200" dirty="0" err="1">
                          <a:effectLst/>
                        </a:rPr>
                        <a:t>Industry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Standard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Architecture</a:t>
                      </a:r>
                      <a:r>
                        <a:rPr lang="ru-RU" sz="1200" dirty="0">
                          <a:effectLst/>
                        </a:rPr>
                        <a:t>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1981 (PC/XT), 1984 (AT)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8/16 бит</a:t>
                      </a:r>
                      <a:br>
                        <a:rPr lang="en-US" sz="1200" dirty="0">
                          <a:effectLst/>
                        </a:rPr>
                      </a:b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4.77–8.33 МГц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до 8.33 МБ/с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Простая, но медленная; ручная настройка IRQ/DMA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71259860"/>
                  </a:ext>
                </a:extLst>
              </a:tr>
              <a:tr h="7464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EISA (</a:t>
                      </a:r>
                      <a:r>
                        <a:rPr lang="ru-RU" sz="1200" dirty="0" err="1">
                          <a:effectLst/>
                        </a:rPr>
                        <a:t>Extended</a:t>
                      </a:r>
                      <a:r>
                        <a:rPr lang="ru-RU" sz="1200" dirty="0">
                          <a:effectLst/>
                        </a:rPr>
                        <a:t> ISA)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1988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32 бит</a:t>
                      </a:r>
                      <a:br>
                        <a:rPr lang="en-US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8.33 МГц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до 33 МБ/с</a:t>
                      </a:r>
                      <a:br>
                        <a:rPr lang="en-US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Совместимость с ISA; улучшенная производительность; использовалась в серверах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60648270"/>
                  </a:ext>
                </a:extLst>
              </a:tr>
              <a:tr h="7464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VESA </a:t>
                      </a:r>
                      <a:r>
                        <a:rPr lang="ru-RU" sz="1200" dirty="0" err="1">
                          <a:effectLst/>
                        </a:rPr>
                        <a:t>Local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Bus</a:t>
                      </a:r>
                      <a:r>
                        <a:rPr lang="ru-RU" sz="1200" dirty="0">
                          <a:effectLst/>
                        </a:rPr>
                        <a:t> (VLB)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1992</a:t>
                      </a:r>
                      <a:br>
                        <a:rPr lang="en-US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32 бит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до 50 МГц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до 130 МБ/с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Прямое подключение к процессорной шине; нестабильна при высоких частотах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79058179"/>
                  </a:ext>
                </a:extLst>
              </a:tr>
              <a:tr h="7948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PCI (</a:t>
                      </a:r>
                      <a:r>
                        <a:rPr lang="ru-RU" sz="1200" dirty="0" err="1">
                          <a:effectLst/>
                        </a:rPr>
                        <a:t>Peripheral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Component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Interconnect</a:t>
                      </a:r>
                      <a:r>
                        <a:rPr lang="ru-RU" sz="1200" dirty="0">
                          <a:effectLst/>
                        </a:rPr>
                        <a:t>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1992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32/64 бит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33/66 МГц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до 533 МБ/с (64 бит, 66 МГц)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Автоматическая конфигурация (</a:t>
                      </a:r>
                      <a:r>
                        <a:rPr lang="ru-RU" sz="1200" dirty="0" err="1">
                          <a:effectLst/>
                        </a:rPr>
                        <a:t>PnP</a:t>
                      </a:r>
                      <a:r>
                        <a:rPr lang="ru-RU" sz="1200" dirty="0">
                          <a:effectLst/>
                        </a:rPr>
                        <a:t>), мультиплексированная адрес/данные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06789343"/>
                  </a:ext>
                </a:extLst>
              </a:tr>
              <a:tr h="7464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AGP (</a:t>
                      </a:r>
                      <a:r>
                        <a:rPr lang="ru-RU" sz="1200" dirty="0" err="1">
                          <a:effectLst/>
                        </a:rPr>
                        <a:t>Accelerated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Graphics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Port</a:t>
                      </a:r>
                      <a:r>
                        <a:rPr lang="ru-RU" sz="1200" dirty="0">
                          <a:effectLst/>
                        </a:rPr>
                        <a:t>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1997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32 бит (</a:t>
                      </a:r>
                      <a:r>
                        <a:rPr lang="ru-RU" sz="1200" dirty="0" err="1">
                          <a:effectLst/>
                        </a:rPr>
                        <a:t>спец.шина</a:t>
                      </a:r>
                      <a:r>
                        <a:rPr lang="ru-RU" sz="1200" dirty="0">
                          <a:effectLst/>
                        </a:rPr>
                        <a:t>)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66 МГц (×1–×8)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до 2133 МБ/с (AGP 8×)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Выделенная шина для видеокарт; прямой доступ к памяти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45997595"/>
                  </a:ext>
                </a:extLst>
              </a:tr>
              <a:tr h="7464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PCI </a:t>
                      </a:r>
                      <a:r>
                        <a:rPr lang="ru-RU" sz="1200" dirty="0" err="1">
                          <a:effectLst/>
                        </a:rPr>
                        <a:t>Express</a:t>
                      </a:r>
                      <a:r>
                        <a:rPr lang="ru-RU" sz="1200" dirty="0">
                          <a:effectLst/>
                        </a:rPr>
                        <a:t> (</a:t>
                      </a:r>
                      <a:r>
                        <a:rPr lang="ru-RU" sz="1200" dirty="0" err="1">
                          <a:effectLst/>
                        </a:rPr>
                        <a:t>PCIe</a:t>
                      </a:r>
                      <a:r>
                        <a:rPr lang="ru-RU" sz="1200" dirty="0">
                          <a:effectLst/>
                        </a:rPr>
                        <a:t>)</a:t>
                      </a:r>
                      <a:br>
                        <a:rPr lang="ru-RU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2003</a:t>
                      </a:r>
                      <a:br>
                        <a:rPr lang="en-US" sz="1200" dirty="0">
                          <a:effectLst/>
                        </a:rPr>
                      </a:b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Последовательная, каналы (lanes) ×1, ×4, ×8, ×16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2.5–64 ГТ/с (Gen 1–Gen 6)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до ~64 ГБ/с (</a:t>
                      </a:r>
                      <a:r>
                        <a:rPr lang="ru-RU" sz="1200" dirty="0" err="1">
                          <a:effectLst/>
                        </a:rPr>
                        <a:t>PCIe</a:t>
                      </a:r>
                      <a:r>
                        <a:rPr lang="ru-RU" sz="1200" dirty="0">
                          <a:effectLst/>
                        </a:rPr>
                        <a:t> 6.0 ×16)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Точечное соединение (</a:t>
                      </a:r>
                      <a:r>
                        <a:rPr lang="ru-RU" sz="1200" dirty="0" err="1">
                          <a:effectLst/>
                        </a:rPr>
                        <a:t>point-to-point</a:t>
                      </a:r>
                      <a:r>
                        <a:rPr lang="ru-RU" sz="1200" dirty="0">
                          <a:effectLst/>
                        </a:rPr>
                        <a:t>), масштабируемость, низкие задержки, </a:t>
                      </a:r>
                      <a:r>
                        <a:rPr lang="ru-RU" sz="1200" dirty="0" err="1">
                          <a:effectLst/>
                        </a:rPr>
                        <a:t>полнодуплекс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95626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7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Picture background">
            <a:extLst>
              <a:ext uri="{FF2B5EF4-FFF2-40B4-BE49-F238E27FC236}">
                <a16:creationId xmlns:a16="http://schemas.microsoft.com/office/drawing/2014/main" id="{28E22AD4-F9A7-4881-AEC9-67C332414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27C3932-F616-4CA8-ADA8-2E278091A188}"/>
              </a:ext>
            </a:extLst>
          </p:cNvPr>
          <p:cNvSpPr txBox="1">
            <a:spLocks/>
          </p:cNvSpPr>
          <p:nvPr/>
        </p:nvSpPr>
        <p:spPr>
          <a:xfrm>
            <a:off x="1085088" y="291973"/>
            <a:ext cx="11899392" cy="46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8B17C7F-2B41-4867-84F9-0FCD47C3E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8016" y="291972"/>
            <a:ext cx="11899392" cy="463931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Arial Black" panose="020B0A04020102020204" pitchFamily="34" charset="0"/>
              </a:rPr>
              <a:t>2.1 Основные компоненты шины</a:t>
            </a:r>
            <a:endParaRPr lang="ru-RU" dirty="0">
              <a:latin typeface="Arial Black" panose="020B0A04020102020204" pitchFamily="34" charset="0"/>
            </a:endParaRP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93D5BF39-D41A-4CD6-8442-5E609E9A7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420" y="1571751"/>
            <a:ext cx="6995160" cy="46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160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background">
            <a:extLst>
              <a:ext uri="{FF2B5EF4-FFF2-40B4-BE49-F238E27FC236}">
                <a16:creationId xmlns:a16="http://schemas.microsoft.com/office/drawing/2014/main" id="{9E6AAB02-4890-4678-AD69-02DC401AE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7FFC9-647A-40E5-9840-921920F2B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Arial Black" panose="020B0A04020102020204" pitchFamily="34" charset="0"/>
              </a:rPr>
              <a:t>3. Прямой доступ к памяти</a:t>
            </a:r>
            <a:endParaRPr lang="ru-RU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14A3C543-F2EA-49E8-AEDA-7F8645531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204" y="1134836"/>
            <a:ext cx="7312279" cy="547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207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background">
            <a:extLst>
              <a:ext uri="{FF2B5EF4-FFF2-40B4-BE49-F238E27FC236}">
                <a16:creationId xmlns:a16="http://schemas.microsoft.com/office/drawing/2014/main" id="{83145FC2-97E9-41FF-AE03-79674F6F2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527364-C871-44B0-A5CB-DA26E321B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16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4.</a:t>
            </a:r>
            <a:r>
              <a:rPr lang="ru-RU" b="1" dirty="0">
                <a:latin typeface="Arial Black" panose="020B0A04020102020204" pitchFamily="34" charset="0"/>
              </a:rPr>
              <a:t> Прерывания</a:t>
            </a:r>
            <a:endParaRPr lang="ru-RU" dirty="0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84A22262-FCC3-424E-BF5F-D8E6F9DD3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41893"/>
            <a:ext cx="77724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571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Picture background">
            <a:extLst>
              <a:ext uri="{FF2B5EF4-FFF2-40B4-BE49-F238E27FC236}">
                <a16:creationId xmlns:a16="http://schemas.microsoft.com/office/drawing/2014/main" id="{1506B0AC-7751-4CE6-A379-B651AD37C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FED2A-F8FD-4922-9734-AC2FF33EA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-59957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4.</a:t>
            </a:r>
            <a:r>
              <a:rPr lang="ru-RU" b="1" dirty="0">
                <a:latin typeface="Arial Black" panose="020B0A04020102020204" pitchFamily="34" charset="0"/>
              </a:rPr>
              <a:t>1 Контролеры прерываний</a:t>
            </a:r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DEE9CC7-7A10-4802-8EC6-71CD0DFE5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504" y="1146047"/>
            <a:ext cx="4572000" cy="255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Picture background">
            <a:extLst>
              <a:ext uri="{FF2B5EF4-FFF2-40B4-BE49-F238E27FC236}">
                <a16:creationId xmlns:a16="http://schemas.microsoft.com/office/drawing/2014/main" id="{97FE2DBB-1D3B-42DA-8077-BA7DAE327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496" y="3959271"/>
            <a:ext cx="7303008" cy="2644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Picture background">
            <a:extLst>
              <a:ext uri="{FF2B5EF4-FFF2-40B4-BE49-F238E27FC236}">
                <a16:creationId xmlns:a16="http://schemas.microsoft.com/office/drawing/2014/main" id="{579C2DED-CFAA-4425-BE75-32E686FAD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142239"/>
            <a:ext cx="7204139" cy="256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7A589A-5CDC-4E4E-BB7A-9A8B114D6953}"/>
              </a:ext>
            </a:extLst>
          </p:cNvPr>
          <p:cNvSpPr/>
          <p:nvPr/>
        </p:nvSpPr>
        <p:spPr>
          <a:xfrm>
            <a:off x="574778" y="3861735"/>
            <a:ext cx="155823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latin typeface="Arial Black" panose="020B0A04020102020204" pitchFamily="34" charset="0"/>
              </a:rPr>
              <a:t>IRQ</a:t>
            </a:r>
            <a:endParaRPr lang="ru-RU" sz="44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7E3D14D-5A43-4FF0-8ECB-0A394084E43D}"/>
              </a:ext>
            </a:extLst>
          </p:cNvPr>
          <p:cNvSpPr/>
          <p:nvPr/>
        </p:nvSpPr>
        <p:spPr>
          <a:xfrm>
            <a:off x="10058984" y="4896740"/>
            <a:ext cx="16898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Arial Black" panose="020B0A04020102020204" pitchFamily="34" charset="0"/>
              </a:rPr>
              <a:t>APIC</a:t>
            </a:r>
            <a:endParaRPr lang="ru-RU" sz="44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39D2995-0D80-44DC-B367-CF18096229F8}"/>
              </a:ext>
            </a:extLst>
          </p:cNvPr>
          <p:cNvSpPr/>
          <p:nvPr/>
        </p:nvSpPr>
        <p:spPr>
          <a:xfrm>
            <a:off x="10278596" y="238619"/>
            <a:ext cx="125066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PIC</a:t>
            </a:r>
            <a:endParaRPr lang="ru-RU" sz="4400" dirty="0">
              <a:latin typeface="Arial Black" panose="020B0A04020102020204" pitchFamily="34" charset="0"/>
            </a:endParaRP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8E89D1A8-23C2-4989-A6E4-59A07A4E695F}"/>
              </a:ext>
            </a:extLst>
          </p:cNvPr>
          <p:cNvCxnSpPr>
            <a:stCxn id="8" idx="0"/>
          </p:cNvCxnSpPr>
          <p:nvPr/>
        </p:nvCxnSpPr>
        <p:spPr>
          <a:xfrm flipV="1">
            <a:off x="1353896" y="2548128"/>
            <a:ext cx="1645920" cy="131360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A2C6E12-EF0B-448E-98FC-A6A7EF75BA1C}"/>
              </a:ext>
            </a:extLst>
          </p:cNvPr>
          <p:cNvCxnSpPr>
            <a:stCxn id="9" idx="0"/>
          </p:cNvCxnSpPr>
          <p:nvPr/>
        </p:nvCxnSpPr>
        <p:spPr>
          <a:xfrm flipH="1">
            <a:off x="6827520" y="4896740"/>
            <a:ext cx="4076407" cy="38472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25103955-C0A2-4780-8FBC-F1F35E408C4A}"/>
              </a:ext>
            </a:extLst>
          </p:cNvPr>
          <p:cNvCxnSpPr>
            <a:stCxn id="10" idx="2"/>
          </p:cNvCxnSpPr>
          <p:nvPr/>
        </p:nvCxnSpPr>
        <p:spPr>
          <a:xfrm flipH="1">
            <a:off x="9412224" y="1008060"/>
            <a:ext cx="1491704" cy="130842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500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background">
            <a:extLst>
              <a:ext uri="{FF2B5EF4-FFF2-40B4-BE49-F238E27FC236}">
                <a16:creationId xmlns:a16="http://schemas.microsoft.com/office/drawing/2014/main" id="{A202DB1E-DDEE-4D16-910E-5BB5CDDAA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77026-2958-40FA-A55C-A892D9676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552" y="139160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Arial Black" panose="020B0A04020102020204" pitchFamily="34" charset="0"/>
              </a:rPr>
              <a:t>5. Драйвера</a:t>
            </a:r>
            <a:endParaRPr lang="ru-RU" dirty="0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A6DC9F7B-3A71-43A6-BEA7-6C74BB4D9A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85" r="13031" b="20344"/>
          <a:stretch/>
        </p:blipFill>
        <p:spPr bwMode="auto">
          <a:xfrm>
            <a:off x="3011424" y="2027238"/>
            <a:ext cx="5913120" cy="360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054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background">
            <a:extLst>
              <a:ext uri="{FF2B5EF4-FFF2-40B4-BE49-F238E27FC236}">
                <a16:creationId xmlns:a16="http://schemas.microsoft.com/office/drawing/2014/main" id="{8AF2A9DB-7CD3-45D3-9E42-D0D453C0F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32C55-8D6C-46F1-BB5F-19DDF0EF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28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Arial Black" panose="020B0A04020102020204" pitchFamily="34" charset="0"/>
              </a:rPr>
              <a:t>5.1 Уровни драйверов</a:t>
            </a:r>
            <a:endParaRPr lang="ru-RU" dirty="0"/>
          </a:p>
        </p:txBody>
      </p:sp>
      <p:pic>
        <p:nvPicPr>
          <p:cNvPr id="8202" name="Picture 10" descr="Picture background">
            <a:extLst>
              <a:ext uri="{FF2B5EF4-FFF2-40B4-BE49-F238E27FC236}">
                <a16:creationId xmlns:a16="http://schemas.microsoft.com/office/drawing/2014/main" id="{F054F355-728E-4E78-BE87-B120A2382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62" y="1446848"/>
            <a:ext cx="8753475" cy="494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966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background">
            <a:extLst>
              <a:ext uri="{FF2B5EF4-FFF2-40B4-BE49-F238E27FC236}">
                <a16:creationId xmlns:a16="http://schemas.microsoft.com/office/drawing/2014/main" id="{50CB3061-720F-4E77-B31D-8AB373F81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2A9EF-42AC-4D76-BA59-BFEF21069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7. </a:t>
            </a:r>
            <a:r>
              <a:rPr lang="ru-RU" dirty="0">
                <a:latin typeface="Arial Black" panose="020B0A04020102020204" pitchFamily="34" charset="0"/>
              </a:rPr>
              <a:t>Спецификация </a:t>
            </a:r>
            <a:r>
              <a:rPr lang="en-US" dirty="0">
                <a:latin typeface="Arial Black" panose="020B0A04020102020204" pitchFamily="34" charset="0"/>
              </a:rPr>
              <a:t>Plug and Play</a:t>
            </a:r>
            <a:endParaRPr lang="ru-RU" dirty="0">
              <a:latin typeface="Arial Black" panose="020B0A04020102020204" pitchFamily="34" charset="0"/>
            </a:endParaRPr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4AABEFFB-C12D-4318-886D-D647E6326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352" y="1800966"/>
            <a:ext cx="6093905" cy="469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043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background">
            <a:extLst>
              <a:ext uri="{FF2B5EF4-FFF2-40B4-BE49-F238E27FC236}">
                <a16:creationId xmlns:a16="http://schemas.microsoft.com/office/drawing/2014/main" id="{19920A1B-4753-4A09-A2DF-D9B7CC220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A4E512-9AE4-4D86-B767-B52E7697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47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7.1 </a:t>
            </a:r>
            <a:r>
              <a:rPr lang="ru-RU" dirty="0">
                <a:latin typeface="Arial Black" panose="020B0A04020102020204" pitchFamily="34" charset="0"/>
              </a:rPr>
              <a:t>Стандарты поддерживающие </a:t>
            </a:r>
            <a:r>
              <a:rPr lang="en-US" dirty="0">
                <a:latin typeface="Arial Black" panose="020B0A04020102020204" pitchFamily="34" charset="0"/>
              </a:rPr>
              <a:t>PnP</a:t>
            </a:r>
            <a:endParaRPr lang="ru-RU" dirty="0"/>
          </a:p>
        </p:txBody>
      </p:sp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7F54795C-AC39-40C7-B6A4-A38AB8A2A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545" y="3749582"/>
            <a:ext cx="3797066" cy="310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Picture background">
            <a:extLst>
              <a:ext uri="{FF2B5EF4-FFF2-40B4-BE49-F238E27FC236}">
                <a16:creationId xmlns:a16="http://schemas.microsoft.com/office/drawing/2014/main" id="{90BC1429-C598-4D85-A8BD-BEAFC521D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749583"/>
            <a:ext cx="4374781" cy="3241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Picture background">
            <a:extLst>
              <a:ext uri="{FF2B5EF4-FFF2-40B4-BE49-F238E27FC236}">
                <a16:creationId xmlns:a16="http://schemas.microsoft.com/office/drawing/2014/main" id="{4A49F7D0-D1F9-4161-8D51-08823C9F4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959" y="3749583"/>
            <a:ext cx="4206197" cy="3108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Picture background">
            <a:extLst>
              <a:ext uri="{FF2B5EF4-FFF2-40B4-BE49-F238E27FC236}">
                <a16:creationId xmlns:a16="http://schemas.microsoft.com/office/drawing/2014/main" id="{C85A3877-7A0E-434A-9188-E2544D5F1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883" y="1499013"/>
            <a:ext cx="2377440" cy="226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4" name="Picture 14" descr="Picture background">
            <a:extLst>
              <a:ext uri="{FF2B5EF4-FFF2-40B4-BE49-F238E27FC236}">
                <a16:creationId xmlns:a16="http://schemas.microsoft.com/office/drawing/2014/main" id="{F97B8AB0-C6E7-4C33-8648-AF374B088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316" y="1499014"/>
            <a:ext cx="2250567" cy="225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Picture background">
            <a:extLst>
              <a:ext uri="{FF2B5EF4-FFF2-40B4-BE49-F238E27FC236}">
                <a16:creationId xmlns:a16="http://schemas.microsoft.com/office/drawing/2014/main" id="{65390D74-F4F9-4E3A-9848-799917B1C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99182"/>
            <a:ext cx="2951316" cy="226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7835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304</Words>
  <Application>Microsoft Office PowerPoint</Application>
  <PresentationFormat>Широкоэкранный</PresentationFormat>
  <Paragraphs>55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Тема Office</vt:lpstr>
      <vt:lpstr>Основные шины расширения</vt:lpstr>
      <vt:lpstr>2. Основные шины расширения: эволюция и характеристики</vt:lpstr>
      <vt:lpstr>2.1 Основные компоненты шины</vt:lpstr>
      <vt:lpstr>3. Прямой доступ к памяти</vt:lpstr>
      <vt:lpstr>4. Прерывания</vt:lpstr>
      <vt:lpstr>4.1 Контролеры прерываний</vt:lpstr>
      <vt:lpstr>5. Драйвера</vt:lpstr>
      <vt:lpstr>5.1 Уровни драйверов</vt:lpstr>
      <vt:lpstr>7. Спецификация Plug and Play</vt:lpstr>
      <vt:lpstr>7.1 Стандарты поддерживающие PnP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шины расширения</dc:title>
  <dc:creator>Никита Бакшилов</dc:creator>
  <cp:lastModifiedBy>Никита Бакшилов</cp:lastModifiedBy>
  <cp:revision>3</cp:revision>
  <dcterms:created xsi:type="dcterms:W3CDTF">2025-11-18T11:31:48Z</dcterms:created>
  <dcterms:modified xsi:type="dcterms:W3CDTF">2025-11-18T13:04:50Z</dcterms:modified>
</cp:coreProperties>
</file>